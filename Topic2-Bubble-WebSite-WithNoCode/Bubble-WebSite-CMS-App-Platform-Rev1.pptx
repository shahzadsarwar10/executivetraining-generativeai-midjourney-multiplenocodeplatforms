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handoutMasterIdLst>
    <p:handoutMasterId r:id="rId14"/>
  </p:handoutMasterIdLst>
  <p:sldIdLst>
    <p:sldId id="257" r:id="rId2"/>
    <p:sldId id="311" r:id="rId3"/>
    <p:sldId id="313" r:id="rId4"/>
    <p:sldId id="312" r:id="rId5"/>
    <p:sldId id="317" r:id="rId6"/>
    <p:sldId id="316" r:id="rId7"/>
    <p:sldId id="315" r:id="rId8"/>
    <p:sldId id="314" r:id="rId9"/>
    <p:sldId id="319" r:id="rId10"/>
    <p:sldId id="318" r:id="rId11"/>
    <p:sldId id="301" r:id="rId12"/>
  </p:sldIdLst>
  <p:sldSz cx="12192000" cy="6858000"/>
  <p:notesSz cx="6858000" cy="9144000"/>
  <p:embeddedFontLst>
    <p:embeddedFont>
      <p:font typeface="Calibri" panose="020F0502020204030204" pitchFamily="34" charset="0"/>
      <p:regular r:id="rId15"/>
      <p:bold r:id="rId16"/>
      <p:italic r:id="rId17"/>
      <p:boldItalic r:id="rId18"/>
    </p:embeddedFont>
    <p:embeddedFont>
      <p:font typeface="Segoe UI" panose="020B0502040204020203" pitchFamily="34" charset="0"/>
      <p:regular r:id="rId19"/>
      <p:bold r:id="rId20"/>
      <p:italic r:id="rId21"/>
      <p:boldItalic r:id="rId22"/>
    </p:embeddedFont>
    <p:embeddedFont>
      <p:font typeface="Malgun Gothic" panose="020B0503020000020004" pitchFamily="34" charset="-127"/>
      <p:regular r:id="rId23"/>
      <p:bold r:id="rId24"/>
    </p:embeddedFont>
    <p:embeddedFont>
      <p:font typeface="Pretendard" panose="020B0604020202020204" charset="-127"/>
      <p:regular r:id="rId25"/>
      <p:bold r:id="rId26"/>
    </p:embeddedFont>
    <p:embeddedFont>
      <p:font typeface="Pretendard SemiBold" panose="020B0604020202020204" charset="-127"/>
      <p:bold r:id="rId27"/>
    </p:embeddedFont>
  </p:embeddedFontLst>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F6DFF"/>
    <a:srgbClr val="3366FF"/>
    <a:srgbClr val="005CC4"/>
    <a:srgbClr val="002B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73" autoAdjust="0"/>
    <p:restoredTop sz="97368" autoAdjust="0"/>
  </p:normalViewPr>
  <p:slideViewPr>
    <p:cSldViewPr snapToGrid="0">
      <p:cViewPr varScale="1">
        <p:scale>
          <a:sx n="119" d="100"/>
          <a:sy n="119" d="100"/>
        </p:scale>
        <p:origin x="102" y="28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3" d="100"/>
          <a:sy n="83" d="100"/>
        </p:scale>
        <p:origin x="393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13EE98-A852-41DE-A8E6-350F943270DE}" type="datetimeFigureOut">
              <a:rPr lang="ko-KR" altLang="en-US" smtClean="0"/>
              <a:t>2026-02-22</a:t>
            </a:fld>
            <a:endParaRPr lang="ko-KR" altLang="en-US"/>
          </a:p>
        </p:txBody>
      </p:sp>
      <p:sp>
        <p:nvSpPr>
          <p:cNvPr id="4" name="바닥글 개체 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851785-8B6C-4784-AFAD-6B9C9E4EC64C}" type="slidenum">
              <a:rPr lang="ko-KR" altLang="en-US" smtClean="0"/>
              <a:t>‹#›</a:t>
            </a:fld>
            <a:endParaRPr lang="ko-KR" altLang="en-US"/>
          </a:p>
        </p:txBody>
      </p:sp>
    </p:spTree>
    <p:extLst>
      <p:ext uri="{BB962C8B-B14F-4D97-AF65-F5344CB8AC3E}">
        <p14:creationId xmlns:p14="http://schemas.microsoft.com/office/powerpoint/2010/main" val="22831972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x-none"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A5290-A79F-4642-9654-5376AB8D9769}" type="datetimeFigureOut">
              <a:t>2/22/2026</a:t>
            </a:fld>
            <a:endParaRPr kumimoji="1" lang="x-none"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x-none"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x-none"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F2586E-9DBA-5942-8626-55FA07286529}" type="slidenum">
              <a:t>‹#›</a:t>
            </a:fld>
            <a:endParaRPr kumimoji="1" lang="x-none" altLang="en-US"/>
          </a:p>
        </p:txBody>
      </p:sp>
    </p:spTree>
    <p:extLst>
      <p:ext uri="{BB962C8B-B14F-4D97-AF65-F5344CB8AC3E}">
        <p14:creationId xmlns:p14="http://schemas.microsoft.com/office/powerpoint/2010/main" val="3207932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a16="http://schemas.microsoft.com/office/drawing/2014/main" xmlns="" id="{48AC0AFF-750A-F714-FF47-DE455A9C24FB}"/>
              </a:ext>
            </a:extLst>
          </p:cNvPr>
          <p:cNvSpPr>
            <a:spLocks noGrp="1"/>
          </p:cNvSpPr>
          <p:nvPr>
            <p:ph type="pic" sz="quarter" idx="10"/>
          </p:nvPr>
        </p:nvSpPr>
        <p:spPr>
          <a:xfrm>
            <a:off x="0" y="0"/>
            <a:ext cx="12191999" cy="6858000"/>
          </a:xfrm>
        </p:spPr>
        <p:txBody>
          <a:bodyPr/>
          <a:lstStyle/>
          <a:p>
            <a:endParaRPr kumimoji="1" lang="x-none" altLang="en-US"/>
          </a:p>
        </p:txBody>
      </p:sp>
      <p:sp>
        <p:nvSpPr>
          <p:cNvPr id="9" name="텍스트 개체 틀 2">
            <a:extLst>
              <a:ext uri="{FF2B5EF4-FFF2-40B4-BE49-F238E27FC236}">
                <a16:creationId xmlns:a16="http://schemas.microsoft.com/office/drawing/2014/main" xmlns="" id="{3CD59DC6-5DB9-9A3C-B21F-49743937A9CE}"/>
              </a:ext>
            </a:extLst>
          </p:cNvPr>
          <p:cNvSpPr>
            <a:spLocks noGrp="1"/>
          </p:cNvSpPr>
          <p:nvPr>
            <p:ph type="body" sz="quarter" idx="14"/>
          </p:nvPr>
        </p:nvSpPr>
        <p:spPr>
          <a:xfrm>
            <a:off x="904568" y="1758081"/>
            <a:ext cx="11287432" cy="2539024"/>
          </a:xfrm>
        </p:spPr>
        <p:txBody>
          <a:bodyPr>
            <a:noAutofit/>
          </a:bodyPr>
          <a:lstStyle>
            <a:lvl1pPr marL="0" indent="0" algn="l" defTabSz="914400" rtl="0" eaLnBrk="1" latinLnBrk="0" hangingPunct="1">
              <a:lnSpc>
                <a:spcPct val="100000"/>
              </a:lnSpc>
              <a:spcBef>
                <a:spcPts val="1000"/>
              </a:spcBef>
              <a:buFontTx/>
              <a:buNone/>
              <a:defRPr lang="ko-KR" altLang="en-US" sz="6600" b="0" i="0" kern="1200">
                <a:solidFill>
                  <a:schemeClr val="tx2"/>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pPr lvl="0"/>
            <a:r>
              <a:rPr kumimoji="1" lang="ko-KR" altLang="en-US"/>
              <a:t>마스터 텍스트 스타일을 편집하려면 클릭</a:t>
            </a:r>
          </a:p>
        </p:txBody>
      </p:sp>
    </p:spTree>
    <p:extLst>
      <p:ext uri="{BB962C8B-B14F-4D97-AF65-F5344CB8AC3E}">
        <p14:creationId xmlns:p14="http://schemas.microsoft.com/office/powerpoint/2010/main" val="4239947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_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a16="http://schemas.microsoft.com/office/drawing/2014/main" xmlns="" id="{48AC0AFF-750A-F714-FF47-DE455A9C24FB}"/>
              </a:ext>
            </a:extLst>
          </p:cNvPr>
          <p:cNvSpPr>
            <a:spLocks noGrp="1"/>
          </p:cNvSpPr>
          <p:nvPr>
            <p:ph type="pic" sz="quarter" idx="10"/>
          </p:nvPr>
        </p:nvSpPr>
        <p:spPr>
          <a:xfrm>
            <a:off x="0" y="0"/>
            <a:ext cx="12191999" cy="6858000"/>
          </a:xfrm>
        </p:spPr>
        <p:txBody>
          <a:bodyPr/>
          <a:lstStyle/>
          <a:p>
            <a:endParaRPr kumimoji="1" lang="x-none" altLang="en-US"/>
          </a:p>
        </p:txBody>
      </p:sp>
      <p:sp>
        <p:nvSpPr>
          <p:cNvPr id="9" name="텍스트 개체 틀 2">
            <a:extLst>
              <a:ext uri="{FF2B5EF4-FFF2-40B4-BE49-F238E27FC236}">
                <a16:creationId xmlns:a16="http://schemas.microsoft.com/office/drawing/2014/main" xmlns="" id="{3CD59DC6-5DB9-9A3C-B21F-49743937A9CE}"/>
              </a:ext>
            </a:extLst>
          </p:cNvPr>
          <p:cNvSpPr>
            <a:spLocks noGrp="1"/>
          </p:cNvSpPr>
          <p:nvPr>
            <p:ph type="body" sz="quarter" idx="14"/>
          </p:nvPr>
        </p:nvSpPr>
        <p:spPr>
          <a:xfrm>
            <a:off x="0" y="2740513"/>
            <a:ext cx="12192000" cy="1376974"/>
          </a:xfrm>
        </p:spPr>
        <p:txBody>
          <a:bodyPr>
            <a:noAutofit/>
          </a:bodyPr>
          <a:lstStyle>
            <a:lvl1pPr marL="0" indent="0" algn="ctr" defTabSz="914400" rtl="0" eaLnBrk="1" latinLnBrk="0" hangingPunct="1">
              <a:lnSpc>
                <a:spcPct val="100000"/>
              </a:lnSpc>
              <a:spcBef>
                <a:spcPts val="1000"/>
              </a:spcBef>
              <a:buFontTx/>
              <a:buNone/>
              <a:defRPr lang="ko-KR" altLang="en-US" sz="6600" b="0" i="0" kern="1200">
                <a:solidFill>
                  <a:schemeClr val="tx2"/>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pPr lvl="0"/>
            <a:r>
              <a:rPr kumimoji="1" lang="ko-KR" altLang="en-US"/>
              <a:t>마스터 텍스트 스타일을 편집하려면 클릭</a:t>
            </a:r>
          </a:p>
        </p:txBody>
      </p:sp>
    </p:spTree>
    <p:extLst>
      <p:ext uri="{BB962C8B-B14F-4D97-AF65-F5344CB8AC3E}">
        <p14:creationId xmlns:p14="http://schemas.microsoft.com/office/powerpoint/2010/main" val="3874738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사용자 지정 레이아웃">
    <p:spTree>
      <p:nvGrpSpPr>
        <p:cNvPr id="1" name=""/>
        <p:cNvGrpSpPr/>
        <p:nvPr/>
      </p:nvGrpSpPr>
      <p:grpSpPr>
        <a:xfrm>
          <a:off x="0" y="0"/>
          <a:ext cx="0" cy="0"/>
          <a:chOff x="0" y="0"/>
          <a:chExt cx="0" cy="0"/>
        </a:xfrm>
      </p:grpSpPr>
      <p:sp>
        <p:nvSpPr>
          <p:cNvPr id="6" name="그림 개체 틀 5">
            <a:extLst>
              <a:ext uri="{FF2B5EF4-FFF2-40B4-BE49-F238E27FC236}">
                <a16:creationId xmlns:a16="http://schemas.microsoft.com/office/drawing/2014/main" xmlns="" id="{B3EED5B5-1A55-BDBA-F145-6D47539985EE}"/>
              </a:ext>
            </a:extLst>
          </p:cNvPr>
          <p:cNvSpPr>
            <a:spLocks noGrp="1"/>
          </p:cNvSpPr>
          <p:nvPr>
            <p:ph type="pic" sz="quarter" idx="10"/>
          </p:nvPr>
        </p:nvSpPr>
        <p:spPr>
          <a:xfrm>
            <a:off x="0" y="-1"/>
            <a:ext cx="12191999" cy="3333135"/>
          </a:xfrm>
        </p:spPr>
        <p:txBody>
          <a:bodyPr/>
          <a:lstStyle/>
          <a:p>
            <a:endParaRPr kumimoji="1" lang="x-none" altLang="en-US"/>
          </a:p>
        </p:txBody>
      </p:sp>
    </p:spTree>
    <p:extLst>
      <p:ext uri="{BB962C8B-B14F-4D97-AF65-F5344CB8AC3E}">
        <p14:creationId xmlns:p14="http://schemas.microsoft.com/office/powerpoint/2010/main" val="1789004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571927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제목 슬라이드">
    <p:spTree>
      <p:nvGrpSpPr>
        <p:cNvPr id="1" name=""/>
        <p:cNvGrpSpPr/>
        <p:nvPr/>
      </p:nvGrpSpPr>
      <p:grpSpPr>
        <a:xfrm>
          <a:off x="0" y="0"/>
          <a:ext cx="0" cy="0"/>
          <a:chOff x="0" y="0"/>
          <a:chExt cx="0" cy="0"/>
        </a:xfrm>
      </p:grpSpPr>
      <p:sp>
        <p:nvSpPr>
          <p:cNvPr id="3" name="그림 개체 틀 5">
            <a:extLst>
              <a:ext uri="{FF2B5EF4-FFF2-40B4-BE49-F238E27FC236}">
                <a16:creationId xmlns:a16="http://schemas.microsoft.com/office/drawing/2014/main" xmlns="" id="{2E931F94-E2B8-C8AD-4BC1-49BC0ED69D52}"/>
              </a:ext>
            </a:extLst>
          </p:cNvPr>
          <p:cNvSpPr>
            <a:spLocks noGrp="1"/>
          </p:cNvSpPr>
          <p:nvPr>
            <p:ph type="pic" sz="quarter" idx="10"/>
          </p:nvPr>
        </p:nvSpPr>
        <p:spPr>
          <a:xfrm>
            <a:off x="0" y="2654709"/>
            <a:ext cx="12191999" cy="2549679"/>
          </a:xfrm>
        </p:spPr>
        <p:txBody>
          <a:bodyPr/>
          <a:lstStyle/>
          <a:p>
            <a:endParaRPr kumimoji="1" lang="x-none" altLang="en-US"/>
          </a:p>
        </p:txBody>
      </p:sp>
    </p:spTree>
    <p:extLst>
      <p:ext uri="{BB962C8B-B14F-4D97-AF65-F5344CB8AC3E}">
        <p14:creationId xmlns:p14="http://schemas.microsoft.com/office/powerpoint/2010/main" val="2045653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011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a16="http://schemas.microsoft.com/office/drawing/2014/main" xmlns="" id="{34E1C037-5D45-31D1-90FB-AB61F725F60C}"/>
              </a:ext>
            </a:extLst>
          </p:cNvPr>
          <p:cNvSpPr>
            <a:spLocks noGrp="1"/>
          </p:cNvSpPr>
          <p:nvPr>
            <p:ph type="pic" sz="quarter" idx="10"/>
          </p:nvPr>
        </p:nvSpPr>
        <p:spPr>
          <a:xfrm>
            <a:off x="8091948" y="0"/>
            <a:ext cx="4100051" cy="6858000"/>
          </a:xfrm>
        </p:spPr>
        <p:txBody>
          <a:bodyPr/>
          <a:lstStyle/>
          <a:p>
            <a:endParaRPr kumimoji="1" lang="x-none" altLang="en-US"/>
          </a:p>
        </p:txBody>
      </p:sp>
    </p:spTree>
    <p:extLst>
      <p:ext uri="{BB962C8B-B14F-4D97-AF65-F5344CB8AC3E}">
        <p14:creationId xmlns:p14="http://schemas.microsoft.com/office/powerpoint/2010/main" val="711076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a16="http://schemas.microsoft.com/office/drawing/2014/main" xmlns="" id="{E20DC0D3-C6B6-283E-A8AE-7AF03B3211A6}"/>
              </a:ext>
            </a:extLst>
          </p:cNvPr>
          <p:cNvSpPr>
            <a:spLocks noGrp="1"/>
          </p:cNvSpPr>
          <p:nvPr>
            <p:ph type="pic" sz="quarter" idx="10"/>
          </p:nvPr>
        </p:nvSpPr>
        <p:spPr>
          <a:xfrm>
            <a:off x="0" y="2723536"/>
            <a:ext cx="12192000" cy="4134464"/>
          </a:xfrm>
        </p:spPr>
        <p:txBody>
          <a:bodyPr/>
          <a:lstStyle/>
          <a:p>
            <a:endParaRPr kumimoji="1" lang="x-none" altLang="en-US"/>
          </a:p>
        </p:txBody>
      </p:sp>
    </p:spTree>
    <p:extLst>
      <p:ext uri="{BB962C8B-B14F-4D97-AF65-F5344CB8AC3E}">
        <p14:creationId xmlns:p14="http://schemas.microsoft.com/office/powerpoint/2010/main" val="3087512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sp>
        <p:nvSpPr>
          <p:cNvPr id="6" name="그림 개체 틀 5">
            <a:extLst>
              <a:ext uri="{FF2B5EF4-FFF2-40B4-BE49-F238E27FC236}">
                <a16:creationId xmlns:a16="http://schemas.microsoft.com/office/drawing/2014/main" xmlns="" id="{E5E0EC43-2876-06A7-82EF-C0B386B77F41}"/>
              </a:ext>
            </a:extLst>
          </p:cNvPr>
          <p:cNvSpPr>
            <a:spLocks noGrp="1"/>
          </p:cNvSpPr>
          <p:nvPr>
            <p:ph type="pic" sz="quarter" idx="12"/>
          </p:nvPr>
        </p:nvSpPr>
        <p:spPr>
          <a:xfrm>
            <a:off x="875071" y="984815"/>
            <a:ext cx="2440800" cy="2440800"/>
          </a:xfrm>
          <a:prstGeom prst="ellipse">
            <a:avLst/>
          </a:prstGeom>
        </p:spPr>
        <p:txBody>
          <a:bodyPr wrap="square">
            <a:noAutofit/>
          </a:bodyPr>
          <a:lstStyle/>
          <a:p>
            <a:endParaRPr kumimoji="1" lang="x-none" altLang="en-US"/>
          </a:p>
        </p:txBody>
      </p:sp>
    </p:spTree>
    <p:extLst>
      <p:ext uri="{BB962C8B-B14F-4D97-AF65-F5344CB8AC3E}">
        <p14:creationId xmlns:p14="http://schemas.microsoft.com/office/powerpoint/2010/main" val="324394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10" name="그림 개체 틀 2">
            <a:extLst>
              <a:ext uri="{FF2B5EF4-FFF2-40B4-BE49-F238E27FC236}">
                <a16:creationId xmlns:a16="http://schemas.microsoft.com/office/drawing/2014/main" xmlns="" id="{ACCE1087-6839-A796-77B1-36D4B082DFD8}"/>
              </a:ext>
            </a:extLst>
          </p:cNvPr>
          <p:cNvSpPr>
            <a:spLocks noGrp="1"/>
          </p:cNvSpPr>
          <p:nvPr>
            <p:ph type="pic" sz="quarter" idx="15"/>
          </p:nvPr>
        </p:nvSpPr>
        <p:spPr>
          <a:xfrm>
            <a:off x="6096000" y="1187225"/>
            <a:ext cx="1315974" cy="1316718"/>
          </a:xfrm>
          <a:prstGeom prst="ellipse">
            <a:avLst/>
          </a:prstGeom>
        </p:spPr>
        <p:txBody>
          <a:bodyPr/>
          <a:lstStyle/>
          <a:p>
            <a:endParaRPr kumimoji="1" lang="x-none" altLang="en-US"/>
          </a:p>
        </p:txBody>
      </p:sp>
      <p:sp>
        <p:nvSpPr>
          <p:cNvPr id="11" name="그림 개체 틀 2">
            <a:extLst>
              <a:ext uri="{FF2B5EF4-FFF2-40B4-BE49-F238E27FC236}">
                <a16:creationId xmlns:a16="http://schemas.microsoft.com/office/drawing/2014/main" xmlns="" id="{BB9CD4D6-637D-D948-9CD8-ABB99C979A27}"/>
              </a:ext>
            </a:extLst>
          </p:cNvPr>
          <p:cNvSpPr>
            <a:spLocks noGrp="1"/>
          </p:cNvSpPr>
          <p:nvPr>
            <p:ph type="pic" sz="quarter" idx="16"/>
          </p:nvPr>
        </p:nvSpPr>
        <p:spPr>
          <a:xfrm>
            <a:off x="6096000" y="2856503"/>
            <a:ext cx="1315974" cy="1316718"/>
          </a:xfrm>
          <a:prstGeom prst="ellipse">
            <a:avLst/>
          </a:prstGeom>
        </p:spPr>
        <p:txBody>
          <a:bodyPr/>
          <a:lstStyle/>
          <a:p>
            <a:endParaRPr kumimoji="1" lang="x-none" altLang="en-US"/>
          </a:p>
        </p:txBody>
      </p:sp>
      <p:sp>
        <p:nvSpPr>
          <p:cNvPr id="12" name="그림 개체 틀 2">
            <a:extLst>
              <a:ext uri="{FF2B5EF4-FFF2-40B4-BE49-F238E27FC236}">
                <a16:creationId xmlns:a16="http://schemas.microsoft.com/office/drawing/2014/main" xmlns="" id="{2390FDB3-C1ED-8168-3C8B-A57BBA4076BB}"/>
              </a:ext>
            </a:extLst>
          </p:cNvPr>
          <p:cNvSpPr>
            <a:spLocks noGrp="1"/>
          </p:cNvSpPr>
          <p:nvPr>
            <p:ph type="pic" sz="quarter" idx="17"/>
          </p:nvPr>
        </p:nvSpPr>
        <p:spPr>
          <a:xfrm>
            <a:off x="6096000" y="4525781"/>
            <a:ext cx="1315974" cy="1316718"/>
          </a:xfrm>
          <a:prstGeom prst="ellipse">
            <a:avLst/>
          </a:prstGeom>
        </p:spPr>
        <p:txBody>
          <a:bodyPr/>
          <a:lstStyle/>
          <a:p>
            <a:endParaRPr kumimoji="1" lang="x-none" altLang="en-US"/>
          </a:p>
        </p:txBody>
      </p:sp>
    </p:spTree>
    <p:extLst>
      <p:ext uri="{BB962C8B-B14F-4D97-AF65-F5344CB8AC3E}">
        <p14:creationId xmlns:p14="http://schemas.microsoft.com/office/powerpoint/2010/main" val="1215279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sp>
        <p:nvSpPr>
          <p:cNvPr id="3" name="그림 개체 틀 2">
            <a:extLst>
              <a:ext uri="{FF2B5EF4-FFF2-40B4-BE49-F238E27FC236}">
                <a16:creationId xmlns:a16="http://schemas.microsoft.com/office/drawing/2014/main" xmlns="" id="{EB45A1BF-4C6F-9CB7-F05E-BAD67FDC07C8}"/>
              </a:ext>
            </a:extLst>
          </p:cNvPr>
          <p:cNvSpPr>
            <a:spLocks noGrp="1"/>
          </p:cNvSpPr>
          <p:nvPr>
            <p:ph type="pic" sz="quarter" idx="10"/>
          </p:nvPr>
        </p:nvSpPr>
        <p:spPr>
          <a:xfrm>
            <a:off x="4469503" y="1519650"/>
            <a:ext cx="3252994" cy="2010131"/>
          </a:xfrm>
          <a:prstGeom prst="round2SameRect">
            <a:avLst/>
          </a:prstGeom>
        </p:spPr>
        <p:txBody>
          <a:bodyPr/>
          <a:lstStyle/>
          <a:p>
            <a:endParaRPr kumimoji="1" lang="x-none" altLang="en-US"/>
          </a:p>
        </p:txBody>
      </p:sp>
      <p:sp>
        <p:nvSpPr>
          <p:cNvPr id="4" name="그림 개체 틀 2">
            <a:extLst>
              <a:ext uri="{FF2B5EF4-FFF2-40B4-BE49-F238E27FC236}">
                <a16:creationId xmlns:a16="http://schemas.microsoft.com/office/drawing/2014/main" xmlns="" id="{B7442596-66A7-D4DD-10EC-EC07611F0C8F}"/>
              </a:ext>
            </a:extLst>
          </p:cNvPr>
          <p:cNvSpPr>
            <a:spLocks noGrp="1"/>
          </p:cNvSpPr>
          <p:nvPr>
            <p:ph type="pic" sz="quarter" idx="11"/>
          </p:nvPr>
        </p:nvSpPr>
        <p:spPr>
          <a:xfrm>
            <a:off x="7886954" y="1519650"/>
            <a:ext cx="3252994" cy="2010131"/>
          </a:xfrm>
          <a:prstGeom prst="round2SameRect">
            <a:avLst/>
          </a:prstGeom>
        </p:spPr>
        <p:txBody>
          <a:bodyPr/>
          <a:lstStyle/>
          <a:p>
            <a:endParaRPr kumimoji="1" lang="x-none" altLang="en-US"/>
          </a:p>
        </p:txBody>
      </p:sp>
      <p:sp>
        <p:nvSpPr>
          <p:cNvPr id="5" name="그림 개체 틀 2">
            <a:extLst>
              <a:ext uri="{FF2B5EF4-FFF2-40B4-BE49-F238E27FC236}">
                <a16:creationId xmlns:a16="http://schemas.microsoft.com/office/drawing/2014/main" xmlns="" id="{DA2A8825-CBA9-8755-2485-C4C028B88238}"/>
              </a:ext>
            </a:extLst>
          </p:cNvPr>
          <p:cNvSpPr>
            <a:spLocks noGrp="1"/>
          </p:cNvSpPr>
          <p:nvPr>
            <p:ph type="pic" sz="quarter" idx="12"/>
          </p:nvPr>
        </p:nvSpPr>
        <p:spPr>
          <a:xfrm>
            <a:off x="1052052" y="1519650"/>
            <a:ext cx="3252994" cy="2010131"/>
          </a:xfrm>
          <a:prstGeom prst="round2SameRect">
            <a:avLst/>
          </a:prstGeom>
        </p:spPr>
        <p:txBody>
          <a:bodyPr/>
          <a:lstStyle/>
          <a:p>
            <a:endParaRPr kumimoji="1" lang="x-none" altLang="en-US"/>
          </a:p>
        </p:txBody>
      </p:sp>
    </p:spTree>
    <p:extLst>
      <p:ext uri="{BB962C8B-B14F-4D97-AF65-F5344CB8AC3E}">
        <p14:creationId xmlns:p14="http://schemas.microsoft.com/office/powerpoint/2010/main" val="3156657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sp>
        <p:nvSpPr>
          <p:cNvPr id="6" name="그림 개체 틀 5">
            <a:extLst>
              <a:ext uri="{FF2B5EF4-FFF2-40B4-BE49-F238E27FC236}">
                <a16:creationId xmlns:a16="http://schemas.microsoft.com/office/drawing/2014/main" xmlns="" id="{6D56305F-D304-4F77-691D-F0C12687F8CE}"/>
              </a:ext>
            </a:extLst>
          </p:cNvPr>
          <p:cNvSpPr>
            <a:spLocks noGrp="1"/>
          </p:cNvSpPr>
          <p:nvPr>
            <p:ph type="pic" sz="quarter" idx="10"/>
          </p:nvPr>
        </p:nvSpPr>
        <p:spPr>
          <a:xfrm>
            <a:off x="1455176" y="0"/>
            <a:ext cx="3785418" cy="6858000"/>
          </a:xfrm>
        </p:spPr>
        <p:txBody>
          <a:bodyPr/>
          <a:lstStyle/>
          <a:p>
            <a:endParaRPr kumimoji="1" lang="x-none" altLang="en-US"/>
          </a:p>
        </p:txBody>
      </p:sp>
    </p:spTree>
    <p:extLst>
      <p:ext uri="{BB962C8B-B14F-4D97-AF65-F5344CB8AC3E}">
        <p14:creationId xmlns:p14="http://schemas.microsoft.com/office/powerpoint/2010/main" val="3067029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a16="http://schemas.microsoft.com/office/drawing/2014/main" xmlns="" id="{9F2A312B-374B-82D9-46EE-5835B651FF08}"/>
              </a:ext>
            </a:extLst>
          </p:cNvPr>
          <p:cNvSpPr>
            <a:spLocks noGrp="1"/>
          </p:cNvSpPr>
          <p:nvPr>
            <p:ph type="pic" sz="quarter" idx="10"/>
          </p:nvPr>
        </p:nvSpPr>
        <p:spPr>
          <a:xfrm>
            <a:off x="452284" y="2778597"/>
            <a:ext cx="2976880" cy="1539240"/>
          </a:xfrm>
          <a:prstGeom prst="roundRect">
            <a:avLst/>
          </a:prstGeom>
        </p:spPr>
        <p:txBody>
          <a:bodyPr/>
          <a:lstStyle/>
          <a:p>
            <a:endParaRPr kumimoji="1" lang="x-none" altLang="en-US"/>
          </a:p>
        </p:txBody>
      </p:sp>
      <p:sp>
        <p:nvSpPr>
          <p:cNvPr id="3" name="그림 개체 틀 5">
            <a:extLst>
              <a:ext uri="{FF2B5EF4-FFF2-40B4-BE49-F238E27FC236}">
                <a16:creationId xmlns:a16="http://schemas.microsoft.com/office/drawing/2014/main" xmlns="" id="{F6044DFC-2F77-F46D-97AE-E1D6833AB973}"/>
              </a:ext>
            </a:extLst>
          </p:cNvPr>
          <p:cNvSpPr>
            <a:spLocks noGrp="1"/>
          </p:cNvSpPr>
          <p:nvPr>
            <p:ph type="pic" sz="quarter" idx="11"/>
          </p:nvPr>
        </p:nvSpPr>
        <p:spPr>
          <a:xfrm>
            <a:off x="452284" y="4939235"/>
            <a:ext cx="2976880" cy="1539240"/>
          </a:xfrm>
          <a:prstGeom prst="roundRect">
            <a:avLst/>
          </a:prstGeom>
        </p:spPr>
        <p:txBody>
          <a:bodyPr/>
          <a:lstStyle/>
          <a:p>
            <a:endParaRPr kumimoji="1" lang="x-none" altLang="en-US"/>
          </a:p>
        </p:txBody>
      </p:sp>
    </p:spTree>
    <p:extLst>
      <p:ext uri="{BB962C8B-B14F-4D97-AF65-F5344CB8AC3E}">
        <p14:creationId xmlns:p14="http://schemas.microsoft.com/office/powerpoint/2010/main" val="32534054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사용자 지정 레이아웃">
    <p:spTree>
      <p:nvGrpSpPr>
        <p:cNvPr id="1" name=""/>
        <p:cNvGrpSpPr/>
        <p:nvPr/>
      </p:nvGrpSpPr>
      <p:grpSpPr>
        <a:xfrm>
          <a:off x="0" y="0"/>
          <a:ext cx="0" cy="0"/>
          <a:chOff x="0" y="0"/>
          <a:chExt cx="0" cy="0"/>
        </a:xfrm>
      </p:grpSpPr>
      <p:sp>
        <p:nvSpPr>
          <p:cNvPr id="6" name="그림 개체 틀 5">
            <a:extLst>
              <a:ext uri="{FF2B5EF4-FFF2-40B4-BE49-F238E27FC236}">
                <a16:creationId xmlns:a16="http://schemas.microsoft.com/office/drawing/2014/main" xmlns="" id="{2DA97943-7596-77CF-6853-9DECCB43A58A}"/>
              </a:ext>
            </a:extLst>
          </p:cNvPr>
          <p:cNvSpPr>
            <a:spLocks noGrp="1"/>
          </p:cNvSpPr>
          <p:nvPr>
            <p:ph type="pic" sz="quarter" idx="10"/>
          </p:nvPr>
        </p:nvSpPr>
        <p:spPr>
          <a:xfrm>
            <a:off x="1" y="0"/>
            <a:ext cx="4081269" cy="6858000"/>
          </a:xfrm>
        </p:spPr>
        <p:txBody>
          <a:bodyPr/>
          <a:lstStyle/>
          <a:p>
            <a:endParaRPr kumimoji="1" lang="x-none" altLang="en-US"/>
          </a:p>
        </p:txBody>
      </p:sp>
      <p:sp>
        <p:nvSpPr>
          <p:cNvPr id="8" name="그림 개체 틀 5">
            <a:extLst>
              <a:ext uri="{FF2B5EF4-FFF2-40B4-BE49-F238E27FC236}">
                <a16:creationId xmlns:a16="http://schemas.microsoft.com/office/drawing/2014/main" xmlns="" id="{05F31534-5579-5BB2-570D-6E243C1BFE67}"/>
              </a:ext>
            </a:extLst>
          </p:cNvPr>
          <p:cNvSpPr>
            <a:spLocks noGrp="1"/>
          </p:cNvSpPr>
          <p:nvPr>
            <p:ph type="pic" sz="quarter" idx="12"/>
          </p:nvPr>
        </p:nvSpPr>
        <p:spPr>
          <a:xfrm>
            <a:off x="8110731" y="0"/>
            <a:ext cx="4081269" cy="6858000"/>
          </a:xfrm>
        </p:spPr>
        <p:txBody>
          <a:bodyPr/>
          <a:lstStyle/>
          <a:p>
            <a:endParaRPr kumimoji="1" lang="x-none" altLang="en-US"/>
          </a:p>
        </p:txBody>
      </p:sp>
    </p:spTree>
    <p:extLst>
      <p:ext uri="{BB962C8B-B14F-4D97-AF65-F5344CB8AC3E}">
        <p14:creationId xmlns:p14="http://schemas.microsoft.com/office/powerpoint/2010/main" val="2071766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a16="http://schemas.microsoft.com/office/drawing/2014/main" xmlns="" id="{E0C195B3-6CB1-4F37-3AFF-3A430A345AB4}"/>
              </a:ext>
            </a:extLst>
          </p:cNvPr>
          <p:cNvSpPr>
            <a:spLocks noGrp="1"/>
          </p:cNvSpPr>
          <p:nvPr>
            <p:ph type="pic" sz="quarter" idx="10"/>
          </p:nvPr>
        </p:nvSpPr>
        <p:spPr>
          <a:xfrm>
            <a:off x="4447794" y="2541270"/>
            <a:ext cx="3296412" cy="1775460"/>
          </a:xfrm>
          <a:prstGeom prst="round2SameRect">
            <a:avLst/>
          </a:prstGeom>
        </p:spPr>
        <p:txBody>
          <a:bodyPr/>
          <a:lstStyle/>
          <a:p>
            <a:endParaRPr kumimoji="1" lang="x-none" altLang="en-US"/>
          </a:p>
        </p:txBody>
      </p:sp>
      <p:sp>
        <p:nvSpPr>
          <p:cNvPr id="3" name="그림 개체 틀 5">
            <a:extLst>
              <a:ext uri="{FF2B5EF4-FFF2-40B4-BE49-F238E27FC236}">
                <a16:creationId xmlns:a16="http://schemas.microsoft.com/office/drawing/2014/main" xmlns="" id="{374070D2-B445-BCB1-F3C1-133C021D6C89}"/>
              </a:ext>
            </a:extLst>
          </p:cNvPr>
          <p:cNvSpPr>
            <a:spLocks noGrp="1"/>
          </p:cNvSpPr>
          <p:nvPr>
            <p:ph type="pic" sz="quarter" idx="11"/>
          </p:nvPr>
        </p:nvSpPr>
        <p:spPr>
          <a:xfrm>
            <a:off x="878586" y="2541270"/>
            <a:ext cx="3296412" cy="1775460"/>
          </a:xfrm>
          <a:prstGeom prst="round2SameRect">
            <a:avLst/>
          </a:prstGeom>
        </p:spPr>
        <p:txBody>
          <a:bodyPr/>
          <a:lstStyle/>
          <a:p>
            <a:endParaRPr kumimoji="1" lang="x-none" altLang="en-US"/>
          </a:p>
        </p:txBody>
      </p:sp>
      <p:sp>
        <p:nvSpPr>
          <p:cNvPr id="4" name="그림 개체 틀 5">
            <a:extLst>
              <a:ext uri="{FF2B5EF4-FFF2-40B4-BE49-F238E27FC236}">
                <a16:creationId xmlns:a16="http://schemas.microsoft.com/office/drawing/2014/main" xmlns="" id="{881132C5-9DA3-23E0-F741-6F98DB564B2A}"/>
              </a:ext>
            </a:extLst>
          </p:cNvPr>
          <p:cNvSpPr>
            <a:spLocks noGrp="1"/>
          </p:cNvSpPr>
          <p:nvPr>
            <p:ph type="pic" sz="quarter" idx="12"/>
          </p:nvPr>
        </p:nvSpPr>
        <p:spPr>
          <a:xfrm>
            <a:off x="8017002" y="2541270"/>
            <a:ext cx="3296412" cy="1775460"/>
          </a:xfrm>
          <a:prstGeom prst="round2SameRect">
            <a:avLst/>
          </a:prstGeom>
        </p:spPr>
        <p:txBody>
          <a:bodyPr/>
          <a:lstStyle/>
          <a:p>
            <a:endParaRPr kumimoji="1" lang="x-none" altLang="en-US"/>
          </a:p>
        </p:txBody>
      </p:sp>
    </p:spTree>
    <p:extLst>
      <p:ext uri="{BB962C8B-B14F-4D97-AF65-F5344CB8AC3E}">
        <p14:creationId xmlns:p14="http://schemas.microsoft.com/office/powerpoint/2010/main" val="3452121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sp>
        <p:nvSpPr>
          <p:cNvPr id="6" name="그림 개체 틀 5">
            <a:extLst>
              <a:ext uri="{FF2B5EF4-FFF2-40B4-BE49-F238E27FC236}">
                <a16:creationId xmlns:a16="http://schemas.microsoft.com/office/drawing/2014/main" xmlns="" id="{354B72C4-7DDC-AB3A-603A-53B38B0AD786}"/>
              </a:ext>
            </a:extLst>
          </p:cNvPr>
          <p:cNvSpPr>
            <a:spLocks noGrp="1"/>
          </p:cNvSpPr>
          <p:nvPr>
            <p:ph type="pic" sz="quarter" idx="10"/>
          </p:nvPr>
        </p:nvSpPr>
        <p:spPr>
          <a:xfrm>
            <a:off x="0" y="0"/>
            <a:ext cx="12191999" cy="6858000"/>
          </a:xfrm>
        </p:spPr>
        <p:txBody>
          <a:bodyPr/>
          <a:lstStyle/>
          <a:p>
            <a:endParaRPr kumimoji="1" lang="x-none" altLang="en-US"/>
          </a:p>
        </p:txBody>
      </p:sp>
    </p:spTree>
    <p:extLst>
      <p:ext uri="{BB962C8B-B14F-4D97-AF65-F5344CB8AC3E}">
        <p14:creationId xmlns:p14="http://schemas.microsoft.com/office/powerpoint/2010/main" val="40772328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사용자 지정 레이아웃">
    <p:spTree>
      <p:nvGrpSpPr>
        <p:cNvPr id="1" name=""/>
        <p:cNvGrpSpPr/>
        <p:nvPr/>
      </p:nvGrpSpPr>
      <p:grpSpPr>
        <a:xfrm>
          <a:off x="0" y="0"/>
          <a:ext cx="0" cy="0"/>
          <a:chOff x="0" y="0"/>
          <a:chExt cx="0" cy="0"/>
        </a:xfrm>
      </p:grpSpPr>
      <p:sp>
        <p:nvSpPr>
          <p:cNvPr id="6" name="그림 개체 틀 5">
            <a:extLst>
              <a:ext uri="{FF2B5EF4-FFF2-40B4-BE49-F238E27FC236}">
                <a16:creationId xmlns:a16="http://schemas.microsoft.com/office/drawing/2014/main" xmlns="" id="{354B72C4-7DDC-AB3A-603A-53B38B0AD786}"/>
              </a:ext>
            </a:extLst>
          </p:cNvPr>
          <p:cNvSpPr>
            <a:spLocks noGrp="1"/>
          </p:cNvSpPr>
          <p:nvPr>
            <p:ph type="pic" sz="quarter" idx="10"/>
          </p:nvPr>
        </p:nvSpPr>
        <p:spPr>
          <a:xfrm>
            <a:off x="0" y="0"/>
            <a:ext cx="12191999" cy="6858000"/>
          </a:xfrm>
        </p:spPr>
        <p:txBody>
          <a:bodyPr/>
          <a:lstStyle/>
          <a:p>
            <a:endParaRPr kumimoji="1" lang="x-none" altLang="en-US"/>
          </a:p>
        </p:txBody>
      </p:sp>
      <p:sp>
        <p:nvSpPr>
          <p:cNvPr id="4" name="그림 개체 틀 5">
            <a:extLst>
              <a:ext uri="{FF2B5EF4-FFF2-40B4-BE49-F238E27FC236}">
                <a16:creationId xmlns:a16="http://schemas.microsoft.com/office/drawing/2014/main" xmlns="" id="{354B72C4-7DDC-AB3A-603A-53B38B0AD786}"/>
              </a:ext>
            </a:extLst>
          </p:cNvPr>
          <p:cNvSpPr>
            <a:spLocks noGrp="1"/>
          </p:cNvSpPr>
          <p:nvPr>
            <p:ph type="pic" sz="quarter" idx="11"/>
          </p:nvPr>
        </p:nvSpPr>
        <p:spPr>
          <a:xfrm>
            <a:off x="6200775" y="2405912"/>
            <a:ext cx="5991225" cy="3927957"/>
          </a:xfrm>
        </p:spPr>
        <p:txBody>
          <a:bodyPr/>
          <a:lstStyle/>
          <a:p>
            <a:endParaRPr kumimoji="1" lang="x-none" altLang="en-US"/>
          </a:p>
        </p:txBody>
      </p:sp>
    </p:spTree>
    <p:extLst>
      <p:ext uri="{BB962C8B-B14F-4D97-AF65-F5344CB8AC3E}">
        <p14:creationId xmlns:p14="http://schemas.microsoft.com/office/powerpoint/2010/main" val="6277723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제목 슬라이드">
    <p:spTree>
      <p:nvGrpSpPr>
        <p:cNvPr id="1" name=""/>
        <p:cNvGrpSpPr/>
        <p:nvPr/>
      </p:nvGrpSpPr>
      <p:grpSpPr>
        <a:xfrm>
          <a:off x="0" y="0"/>
          <a:ext cx="0" cy="0"/>
          <a:chOff x="0" y="0"/>
          <a:chExt cx="0" cy="0"/>
        </a:xfrm>
      </p:grpSpPr>
      <p:sp>
        <p:nvSpPr>
          <p:cNvPr id="2" name="그림 개체 틀 5">
            <a:extLst>
              <a:ext uri="{FF2B5EF4-FFF2-40B4-BE49-F238E27FC236}">
                <a16:creationId xmlns:a16="http://schemas.microsoft.com/office/drawing/2014/main" xmlns="" id="{93C86317-CA00-13C6-9176-E329142B7C63}"/>
              </a:ext>
            </a:extLst>
          </p:cNvPr>
          <p:cNvSpPr>
            <a:spLocks noGrp="1"/>
          </p:cNvSpPr>
          <p:nvPr>
            <p:ph type="pic" sz="quarter" idx="10"/>
          </p:nvPr>
        </p:nvSpPr>
        <p:spPr>
          <a:xfrm>
            <a:off x="0" y="0"/>
            <a:ext cx="12191999" cy="4093436"/>
          </a:xfrm>
        </p:spPr>
        <p:txBody>
          <a:bodyPr/>
          <a:lstStyle/>
          <a:p>
            <a:endParaRPr kumimoji="1" lang="x-none" altLang="en-US"/>
          </a:p>
        </p:txBody>
      </p:sp>
    </p:spTree>
    <p:extLst>
      <p:ext uri="{BB962C8B-B14F-4D97-AF65-F5344CB8AC3E}">
        <p14:creationId xmlns:p14="http://schemas.microsoft.com/office/powerpoint/2010/main" val="40613954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제목 슬라이드">
    <p:spTree>
      <p:nvGrpSpPr>
        <p:cNvPr id="1" name=""/>
        <p:cNvGrpSpPr/>
        <p:nvPr/>
      </p:nvGrpSpPr>
      <p:grpSpPr>
        <a:xfrm>
          <a:off x="0" y="0"/>
          <a:ext cx="0" cy="0"/>
          <a:chOff x="0" y="0"/>
          <a:chExt cx="0" cy="0"/>
        </a:xfrm>
      </p:grpSpPr>
      <p:sp>
        <p:nvSpPr>
          <p:cNvPr id="13" name="그림 개체 틀 12"/>
          <p:cNvSpPr>
            <a:spLocks noGrp="1"/>
          </p:cNvSpPr>
          <p:nvPr>
            <p:ph type="pic" sz="quarter" idx="16"/>
          </p:nvPr>
        </p:nvSpPr>
        <p:spPr>
          <a:xfrm>
            <a:off x="827348" y="2784592"/>
            <a:ext cx="1548820" cy="1547945"/>
          </a:xfrm>
          <a:custGeom>
            <a:avLst/>
            <a:gdLst>
              <a:gd name="connsiteX0" fmla="*/ 257996 w 1548820"/>
              <a:gd name="connsiteY0" fmla="*/ 0 h 1547945"/>
              <a:gd name="connsiteX1" fmla="*/ 1548820 w 1548820"/>
              <a:gd name="connsiteY1" fmla="*/ 0 h 1547945"/>
              <a:gd name="connsiteX2" fmla="*/ 1548820 w 1548820"/>
              <a:gd name="connsiteY2" fmla="*/ 1547945 h 1547945"/>
              <a:gd name="connsiteX3" fmla="*/ 257996 w 1548820"/>
              <a:gd name="connsiteY3" fmla="*/ 1547945 h 1547945"/>
              <a:gd name="connsiteX4" fmla="*/ 0 w 1548820"/>
              <a:gd name="connsiteY4" fmla="*/ 1289949 h 1547945"/>
              <a:gd name="connsiteX5" fmla="*/ 0 w 1548820"/>
              <a:gd name="connsiteY5" fmla="*/ 257996 h 1547945"/>
              <a:gd name="connsiteX6" fmla="*/ 257996 w 1548820"/>
              <a:gd name="connsiteY6" fmla="*/ 0 h 154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8820" h="1547945">
                <a:moveTo>
                  <a:pt x="257996" y="0"/>
                </a:moveTo>
                <a:lnTo>
                  <a:pt x="1548820" y="0"/>
                </a:lnTo>
                <a:lnTo>
                  <a:pt x="1548820" y="1547945"/>
                </a:lnTo>
                <a:lnTo>
                  <a:pt x="257996" y="1547945"/>
                </a:lnTo>
                <a:cubicBezTo>
                  <a:pt x="115509" y="1547945"/>
                  <a:pt x="0" y="1432436"/>
                  <a:pt x="0" y="1289949"/>
                </a:cubicBezTo>
                <a:lnTo>
                  <a:pt x="0" y="257996"/>
                </a:lnTo>
                <a:cubicBezTo>
                  <a:pt x="0" y="115509"/>
                  <a:pt x="115509" y="0"/>
                  <a:pt x="257996" y="0"/>
                </a:cubicBezTo>
                <a:close/>
              </a:path>
            </a:pathLst>
          </a:custGeom>
        </p:spPr>
        <p:txBody>
          <a:bodyPr wrap="square">
            <a:noAutofit/>
          </a:bodyPr>
          <a:lstStyle/>
          <a:p>
            <a:endParaRPr lang="ko-KR" altLang="en-US"/>
          </a:p>
        </p:txBody>
      </p:sp>
      <p:sp>
        <p:nvSpPr>
          <p:cNvPr id="14" name="그림 개체 틀 13"/>
          <p:cNvSpPr>
            <a:spLocks noGrp="1"/>
          </p:cNvSpPr>
          <p:nvPr>
            <p:ph type="pic" sz="quarter" idx="17"/>
          </p:nvPr>
        </p:nvSpPr>
        <p:spPr>
          <a:xfrm>
            <a:off x="827348" y="4599954"/>
            <a:ext cx="1548820" cy="1547945"/>
          </a:xfrm>
          <a:custGeom>
            <a:avLst/>
            <a:gdLst>
              <a:gd name="connsiteX0" fmla="*/ 257996 w 1548820"/>
              <a:gd name="connsiteY0" fmla="*/ 0 h 1547945"/>
              <a:gd name="connsiteX1" fmla="*/ 1548820 w 1548820"/>
              <a:gd name="connsiteY1" fmla="*/ 0 h 1547945"/>
              <a:gd name="connsiteX2" fmla="*/ 1548820 w 1548820"/>
              <a:gd name="connsiteY2" fmla="*/ 1547945 h 1547945"/>
              <a:gd name="connsiteX3" fmla="*/ 257996 w 1548820"/>
              <a:gd name="connsiteY3" fmla="*/ 1547945 h 1547945"/>
              <a:gd name="connsiteX4" fmla="*/ 0 w 1548820"/>
              <a:gd name="connsiteY4" fmla="*/ 1289949 h 1547945"/>
              <a:gd name="connsiteX5" fmla="*/ 0 w 1548820"/>
              <a:gd name="connsiteY5" fmla="*/ 257996 h 1547945"/>
              <a:gd name="connsiteX6" fmla="*/ 257996 w 1548820"/>
              <a:gd name="connsiteY6" fmla="*/ 0 h 154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8820" h="1547945">
                <a:moveTo>
                  <a:pt x="257996" y="0"/>
                </a:moveTo>
                <a:lnTo>
                  <a:pt x="1548820" y="0"/>
                </a:lnTo>
                <a:lnTo>
                  <a:pt x="1548820" y="1547945"/>
                </a:lnTo>
                <a:lnTo>
                  <a:pt x="257996" y="1547945"/>
                </a:lnTo>
                <a:cubicBezTo>
                  <a:pt x="115509" y="1547945"/>
                  <a:pt x="0" y="1432436"/>
                  <a:pt x="0" y="1289949"/>
                </a:cubicBezTo>
                <a:lnTo>
                  <a:pt x="0" y="257996"/>
                </a:lnTo>
                <a:cubicBezTo>
                  <a:pt x="0" y="115509"/>
                  <a:pt x="115509" y="0"/>
                  <a:pt x="257996" y="0"/>
                </a:cubicBezTo>
                <a:close/>
              </a:path>
            </a:pathLst>
          </a:custGeom>
        </p:spPr>
        <p:txBody>
          <a:bodyPr wrap="square">
            <a:noAutofit/>
          </a:bodyPr>
          <a:lstStyle/>
          <a:p>
            <a:endParaRPr lang="ko-KR" altLang="en-US"/>
          </a:p>
        </p:txBody>
      </p:sp>
      <p:sp>
        <p:nvSpPr>
          <p:cNvPr id="16" name="그림 개체 틀 15"/>
          <p:cNvSpPr>
            <a:spLocks noGrp="1"/>
          </p:cNvSpPr>
          <p:nvPr>
            <p:ph type="pic" sz="quarter" idx="18"/>
          </p:nvPr>
        </p:nvSpPr>
        <p:spPr>
          <a:xfrm>
            <a:off x="6465883" y="4599954"/>
            <a:ext cx="1548820" cy="1547945"/>
          </a:xfrm>
          <a:custGeom>
            <a:avLst/>
            <a:gdLst>
              <a:gd name="connsiteX0" fmla="*/ 257996 w 1548820"/>
              <a:gd name="connsiteY0" fmla="*/ 0 h 1547945"/>
              <a:gd name="connsiteX1" fmla="*/ 1548820 w 1548820"/>
              <a:gd name="connsiteY1" fmla="*/ 0 h 1547945"/>
              <a:gd name="connsiteX2" fmla="*/ 1548820 w 1548820"/>
              <a:gd name="connsiteY2" fmla="*/ 1547945 h 1547945"/>
              <a:gd name="connsiteX3" fmla="*/ 257996 w 1548820"/>
              <a:gd name="connsiteY3" fmla="*/ 1547945 h 1547945"/>
              <a:gd name="connsiteX4" fmla="*/ 0 w 1548820"/>
              <a:gd name="connsiteY4" fmla="*/ 1289949 h 1547945"/>
              <a:gd name="connsiteX5" fmla="*/ 0 w 1548820"/>
              <a:gd name="connsiteY5" fmla="*/ 257996 h 1547945"/>
              <a:gd name="connsiteX6" fmla="*/ 257996 w 1548820"/>
              <a:gd name="connsiteY6" fmla="*/ 0 h 154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8820" h="1547945">
                <a:moveTo>
                  <a:pt x="257996" y="0"/>
                </a:moveTo>
                <a:lnTo>
                  <a:pt x="1548820" y="0"/>
                </a:lnTo>
                <a:lnTo>
                  <a:pt x="1548820" y="1547945"/>
                </a:lnTo>
                <a:lnTo>
                  <a:pt x="257996" y="1547945"/>
                </a:lnTo>
                <a:cubicBezTo>
                  <a:pt x="115509" y="1547945"/>
                  <a:pt x="0" y="1432436"/>
                  <a:pt x="0" y="1289949"/>
                </a:cubicBezTo>
                <a:lnTo>
                  <a:pt x="0" y="257996"/>
                </a:lnTo>
                <a:cubicBezTo>
                  <a:pt x="0" y="115509"/>
                  <a:pt x="115509" y="0"/>
                  <a:pt x="257996" y="0"/>
                </a:cubicBezTo>
                <a:close/>
              </a:path>
            </a:pathLst>
          </a:custGeom>
        </p:spPr>
        <p:txBody>
          <a:bodyPr wrap="square">
            <a:noAutofit/>
          </a:bodyPr>
          <a:lstStyle/>
          <a:p>
            <a:endParaRPr lang="ko-KR" altLang="en-US"/>
          </a:p>
        </p:txBody>
      </p:sp>
      <p:sp>
        <p:nvSpPr>
          <p:cNvPr id="15" name="그림 개체 틀 14"/>
          <p:cNvSpPr>
            <a:spLocks noGrp="1"/>
          </p:cNvSpPr>
          <p:nvPr>
            <p:ph type="pic" sz="quarter" idx="19"/>
          </p:nvPr>
        </p:nvSpPr>
        <p:spPr>
          <a:xfrm>
            <a:off x="6465883" y="2784592"/>
            <a:ext cx="1548820" cy="1547945"/>
          </a:xfrm>
          <a:custGeom>
            <a:avLst/>
            <a:gdLst>
              <a:gd name="connsiteX0" fmla="*/ 257996 w 1548820"/>
              <a:gd name="connsiteY0" fmla="*/ 0 h 1547945"/>
              <a:gd name="connsiteX1" fmla="*/ 1548820 w 1548820"/>
              <a:gd name="connsiteY1" fmla="*/ 0 h 1547945"/>
              <a:gd name="connsiteX2" fmla="*/ 1548820 w 1548820"/>
              <a:gd name="connsiteY2" fmla="*/ 1547945 h 1547945"/>
              <a:gd name="connsiteX3" fmla="*/ 257996 w 1548820"/>
              <a:gd name="connsiteY3" fmla="*/ 1547945 h 1547945"/>
              <a:gd name="connsiteX4" fmla="*/ 0 w 1548820"/>
              <a:gd name="connsiteY4" fmla="*/ 1289949 h 1547945"/>
              <a:gd name="connsiteX5" fmla="*/ 0 w 1548820"/>
              <a:gd name="connsiteY5" fmla="*/ 257996 h 1547945"/>
              <a:gd name="connsiteX6" fmla="*/ 257996 w 1548820"/>
              <a:gd name="connsiteY6" fmla="*/ 0 h 154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8820" h="1547945">
                <a:moveTo>
                  <a:pt x="257996" y="0"/>
                </a:moveTo>
                <a:lnTo>
                  <a:pt x="1548820" y="0"/>
                </a:lnTo>
                <a:lnTo>
                  <a:pt x="1548820" y="1547945"/>
                </a:lnTo>
                <a:lnTo>
                  <a:pt x="257996" y="1547945"/>
                </a:lnTo>
                <a:cubicBezTo>
                  <a:pt x="115509" y="1547945"/>
                  <a:pt x="0" y="1432436"/>
                  <a:pt x="0" y="1289949"/>
                </a:cubicBezTo>
                <a:lnTo>
                  <a:pt x="0" y="257996"/>
                </a:lnTo>
                <a:cubicBezTo>
                  <a:pt x="0" y="115509"/>
                  <a:pt x="115509" y="0"/>
                  <a:pt x="257996" y="0"/>
                </a:cubicBezTo>
                <a:close/>
              </a:path>
            </a:pathLst>
          </a:custGeom>
        </p:spPr>
        <p:txBody>
          <a:bodyPr wrap="square">
            <a:noAutofit/>
          </a:bodyPr>
          <a:lstStyle/>
          <a:p>
            <a:endParaRPr lang="ko-KR" altLang="en-US"/>
          </a:p>
        </p:txBody>
      </p:sp>
    </p:spTree>
    <p:extLst>
      <p:ext uri="{BB962C8B-B14F-4D97-AF65-F5344CB8AC3E}">
        <p14:creationId xmlns:p14="http://schemas.microsoft.com/office/powerpoint/2010/main" val="1907266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xmlns="" id="{2F74F703-26CD-7A18-FB38-836B7AE659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ko-KR" altLang="en-US"/>
              <a:t>마스터 제목 스타일 편집</a:t>
            </a:r>
            <a:endParaRPr kumimoji="1" lang="x-none" altLang="en-US"/>
          </a:p>
        </p:txBody>
      </p:sp>
      <p:sp>
        <p:nvSpPr>
          <p:cNvPr id="3" name="텍스트 개체 틀 2">
            <a:extLst>
              <a:ext uri="{FF2B5EF4-FFF2-40B4-BE49-F238E27FC236}">
                <a16:creationId xmlns:a16="http://schemas.microsoft.com/office/drawing/2014/main" xmlns="" id="{0089CC0E-113C-4A03-2B3C-4FD04A94A2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endParaRPr kumimoji="1" lang="x-none" altLang="en-US"/>
          </a:p>
        </p:txBody>
      </p:sp>
      <p:sp>
        <p:nvSpPr>
          <p:cNvPr id="4" name="날짜 개체 틀 3">
            <a:extLst>
              <a:ext uri="{FF2B5EF4-FFF2-40B4-BE49-F238E27FC236}">
                <a16:creationId xmlns:a16="http://schemas.microsoft.com/office/drawing/2014/main" xmlns="" id="{53314873-FD2D-77FF-B0CC-1AD7721F62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F573FB-CB09-D64A-821E-11AE7513E0F9}" type="datetimeFigureOut">
              <a:t>2/22/2026</a:t>
            </a:fld>
            <a:endParaRPr kumimoji="1" lang="x-none" altLang="en-US"/>
          </a:p>
        </p:txBody>
      </p:sp>
      <p:sp>
        <p:nvSpPr>
          <p:cNvPr id="5" name="바닥글 개체 틀 4">
            <a:extLst>
              <a:ext uri="{FF2B5EF4-FFF2-40B4-BE49-F238E27FC236}">
                <a16:creationId xmlns:a16="http://schemas.microsoft.com/office/drawing/2014/main" xmlns="" id="{D94132E4-C40C-B237-43EC-7136F21A11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x-none" altLang="en-US"/>
          </a:p>
        </p:txBody>
      </p:sp>
      <p:sp>
        <p:nvSpPr>
          <p:cNvPr id="6" name="슬라이드 번호 개체 틀 5">
            <a:extLst>
              <a:ext uri="{FF2B5EF4-FFF2-40B4-BE49-F238E27FC236}">
                <a16:creationId xmlns:a16="http://schemas.microsoft.com/office/drawing/2014/main" xmlns="" id="{7A10E379-36DB-A36F-B3BE-AC06FA2686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2C9409-E056-2D49-BECD-60715455177C}" type="slidenum">
              <a:t>‹#›</a:t>
            </a:fld>
            <a:endParaRPr kumimoji="1" lang="x-none" altLang="en-US"/>
          </a:p>
        </p:txBody>
      </p:sp>
    </p:spTree>
    <p:extLst>
      <p:ext uri="{BB962C8B-B14F-4D97-AF65-F5344CB8AC3E}">
        <p14:creationId xmlns:p14="http://schemas.microsoft.com/office/powerpoint/2010/main" val="2748100321"/>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2" r:id="rId3"/>
    <p:sldLayoutId id="2147483650" r:id="rId4"/>
    <p:sldLayoutId id="2147483665" r:id="rId5"/>
    <p:sldLayoutId id="2147483664" r:id="rId6"/>
    <p:sldLayoutId id="2147483663" r:id="rId7"/>
    <p:sldLayoutId id="2147483653" r:id="rId8"/>
    <p:sldLayoutId id="2147483654" r:id="rId9"/>
    <p:sldLayoutId id="2147483655" r:id="rId10"/>
    <p:sldLayoutId id="2147483651" r:id="rId11"/>
    <p:sldLayoutId id="2147483652" r:id="rId12"/>
    <p:sldLayoutId id="2147483656" r:id="rId13"/>
    <p:sldLayoutId id="2147483658" r:id="rId14"/>
    <p:sldLayoutId id="2147483659" r:id="rId15"/>
    <p:sldLayoutId id="2147483657" r:id="rId16"/>
    <p:sldLayoutId id="2147483667" r:id="rId17"/>
    <p:sldLayoutId id="2147483660" r:id="rId18"/>
    <p:sldLayoutId id="2147483661"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www.nexskill.com/" TargetMode="External"/><Relationship Id="rId4" Type="http://schemas.openxmlformats.org/officeDocument/2006/relationships/hyperlink" Target="https://cognitiveconvergence.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hyperlink" Target="https://bubble.io/academy" TargetMode="External"/><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hyperlink" Target="https://www.udemy.com/course/build-fully-functional-apps-without-coding-using-bubble/" TargetMode="External"/><Relationship Id="rId5" Type="http://schemas.openxmlformats.org/officeDocument/2006/relationships/hyperlink" Target="https://medium.com/@thomasczerny/bubble-io-an-invaluable-no-code-low-code-skill-you-need-to-know-1abfc09be117" TargetMode="Externa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hyperlink" Target="https://www.udemy.com/course/build-fully-functional-apps-without-coding-using-bubble/" TargetMode="External"/><Relationship Id="rId5" Type="http://schemas.openxmlformats.org/officeDocument/2006/relationships/hyperlink" Target="https://www.youtube.com/watch?v=N2Lcke85fHM" TargetMode="Externa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hyperlink" Target="https://bubble.io/academy" TargetMode="External"/><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hyperlink" Target="https://www.youtube.com/playlist?list=PLd6fHsjyvH7z4Z8yCsp8Uu6MFqPI95KrW" TargetMode="External"/><Relationship Id="rId5" Type="http://schemas.openxmlformats.org/officeDocument/2006/relationships/hyperlink" Target="https://www.udemy.com/course/build-fully-functional-apps-without-coding-using-bubble/" TargetMode="Externa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hyperlink" Target="https://www.youtube.com/watch?v=XAoCmqtvzhA" TargetMode="Externa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hyperlink" Target="https://www.youtube.com/playlist?list=PLd6fHsjyvH7z4Z8yCsp8Uu6MFqPI95KrW" TargetMode="External"/><Relationship Id="rId5" Type="http://schemas.openxmlformats.org/officeDocument/2006/relationships/hyperlink" Target="https://www.youtube.com/watch?v=XAoCmqtvzhA" TargetMode="Externa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hyperlink" Target="https://www.udemy.com/course/build-fully-functional-apps-without-coding-using-bubble/" TargetMode="External"/><Relationship Id="rId5" Type="http://schemas.openxmlformats.org/officeDocument/2006/relationships/hyperlink" Target="https://buildingwithbubble.com/complete-bubble-crash-course-beginners/" TargetMode="External"/><Relationship Id="rId4" Type="http://schemas.openxmlformats.org/officeDocument/2006/relationships/image" Target="../media/image2.emf"/></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hyperlink" Target="https://www.youtube.com/watch?v=XAoCmqtvzhA" TargetMode="External"/><Relationship Id="rId4" Type="http://schemas.openxmlformats.org/officeDocument/2006/relationships/image" Target="../media/image2.emf"/></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hyperlink" Target="https://www.youtube.com/playlist?list=PLd6fHsjyvH7z4Z8yCsp8Uu6MFqPI95KrW" TargetMode="External"/><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jp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7" name="그림 개체 틀 76">
            <a:extLst>
              <a:ext uri="{FF2B5EF4-FFF2-40B4-BE49-F238E27FC236}">
                <a16:creationId xmlns:a16="http://schemas.microsoft.com/office/drawing/2014/main" xmlns="" id="{6A703CAE-CCC1-F3B6-AB4C-172AB6093EF2}"/>
              </a:ext>
            </a:extLst>
          </p:cNvPr>
          <p:cNvPicPr>
            <a:picLocks noGrp="1" noChangeAspect="1"/>
          </p:cNvPicPr>
          <p:nvPr>
            <p:ph type="pic" sz="quarter" idx="10"/>
          </p:nvPr>
        </p:nvPicPr>
        <p:blipFill>
          <a:blip r:embed="rId2"/>
          <a:srcRect t="7813" b="7813"/>
          <a:stretch>
            <a:fillRect/>
          </a:stretch>
        </p:blipFill>
        <p:spPr>
          <a:xfrm>
            <a:off x="0" y="-8238"/>
            <a:ext cx="12191999" cy="6858000"/>
          </a:xfrm>
        </p:spPr>
      </p:pic>
      <p:sp>
        <p:nvSpPr>
          <p:cNvPr id="69" name="직사각형 68">
            <a:extLst>
              <a:ext uri="{FF2B5EF4-FFF2-40B4-BE49-F238E27FC236}">
                <a16:creationId xmlns:a16="http://schemas.microsoft.com/office/drawing/2014/main" xmlns="" id="{82935E07-D11C-CDAF-7565-E7F0F7F23017}"/>
              </a:ext>
            </a:extLst>
          </p:cNvPr>
          <p:cNvSpPr/>
          <p:nvPr/>
        </p:nvSpPr>
        <p:spPr>
          <a:xfrm>
            <a:off x="0" y="0"/>
            <a:ext cx="12192000" cy="67702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sp>
        <p:nvSpPr>
          <p:cNvPr id="70" name="TextBox 69">
            <a:extLst>
              <a:ext uri="{FF2B5EF4-FFF2-40B4-BE49-F238E27FC236}">
                <a16:creationId xmlns:a16="http://schemas.microsoft.com/office/drawing/2014/main" xmlns="" id="{7F501636-5AB5-AFFD-0C64-151AA05FD14F}"/>
              </a:ext>
            </a:extLst>
          </p:cNvPr>
          <p:cNvSpPr txBox="1"/>
          <p:nvPr/>
        </p:nvSpPr>
        <p:spPr>
          <a:xfrm>
            <a:off x="321353" y="184625"/>
            <a:ext cx="6365197" cy="523220"/>
          </a:xfrm>
          <a:prstGeom prst="rect">
            <a:avLst/>
          </a:prstGeom>
          <a:noFill/>
        </p:spPr>
        <p:txBody>
          <a:bodyPr wrap="square" rtlCol="0">
            <a:spAutoFit/>
          </a:bodyPr>
          <a:lstStyle/>
          <a:p>
            <a:r>
              <a:rPr lang="en-US" altLang="ko-KR" sz="1400" b="1" dirty="0" smtClean="0">
                <a:solidFill>
                  <a:schemeClr val="bg1"/>
                </a:solidFill>
                <a:ea typeface="Pretendard" panose="02000503000000020004" pitchFamily="2" charset="-127"/>
                <a:cs typeface="Pretendard" panose="02000503000000020004" pitchFamily="2" charset="-127"/>
              </a:rPr>
              <a:t>Bubble.io    - </a:t>
            </a:r>
            <a:r>
              <a:rPr lang="en-US" altLang="ko-KR" sz="1400" dirty="0">
                <a:solidFill>
                  <a:schemeClr val="bg1"/>
                </a:solidFill>
              </a:rPr>
              <a:t>No-Code  Web Site, CMS , </a:t>
            </a:r>
            <a:r>
              <a:rPr lang="en-US" altLang="ko-KR" sz="1400" dirty="0" smtClean="0">
                <a:solidFill>
                  <a:schemeClr val="bg1"/>
                </a:solidFill>
              </a:rPr>
              <a:t>App , Business solution – Platform</a:t>
            </a:r>
            <a:endParaRPr lang="ko-KR" altLang="en-US" sz="1400" dirty="0">
              <a:solidFill>
                <a:schemeClr val="bg1"/>
              </a:solidFill>
            </a:endParaRPr>
          </a:p>
          <a:p>
            <a:endParaRPr lang="ko-KR" altLang="en-US" sz="1400" b="1" dirty="0">
              <a:solidFill>
                <a:schemeClr val="bg1"/>
              </a:solidFill>
              <a:ea typeface="Pretendard" panose="02000503000000020004" pitchFamily="2" charset="-127"/>
              <a:cs typeface="Pretendard" panose="02000503000000020004" pitchFamily="2" charset="-127"/>
            </a:endParaRPr>
          </a:p>
        </p:txBody>
      </p:sp>
      <p:pic>
        <p:nvPicPr>
          <p:cNvPr id="4" name="Picture 3"/>
          <p:cNvPicPr>
            <a:picLocks noChangeAspect="1"/>
          </p:cNvPicPr>
          <p:nvPr/>
        </p:nvPicPr>
        <p:blipFill>
          <a:blip r:embed="rId3"/>
          <a:stretch>
            <a:fillRect/>
          </a:stretch>
        </p:blipFill>
        <p:spPr>
          <a:xfrm>
            <a:off x="9882900" y="-10687"/>
            <a:ext cx="2309100" cy="698400"/>
          </a:xfrm>
          <a:prstGeom prst="rect">
            <a:avLst/>
          </a:prstGeom>
        </p:spPr>
      </p:pic>
      <p:sp>
        <p:nvSpPr>
          <p:cNvPr id="5" name="Rectangle 4"/>
          <p:cNvSpPr/>
          <p:nvPr/>
        </p:nvSpPr>
        <p:spPr>
          <a:xfrm>
            <a:off x="2908769" y="3754250"/>
            <a:ext cx="5957611" cy="954107"/>
          </a:xfrm>
          <a:prstGeom prst="rect">
            <a:avLst/>
          </a:prstGeom>
        </p:spPr>
        <p:txBody>
          <a:bodyPr wrap="square">
            <a:spAutoFit/>
          </a:bodyPr>
          <a:lstStyle/>
          <a:p>
            <a:r>
              <a:rPr lang="en-US" b="1" dirty="0"/>
              <a:t>About  </a:t>
            </a:r>
            <a:r>
              <a:rPr lang="en-US" b="1" dirty="0" smtClean="0"/>
              <a:t>Instructor:</a:t>
            </a:r>
          </a:p>
          <a:p>
            <a:r>
              <a:rPr lang="en-US" altLang="ko-KR" sz="2000" b="1" dirty="0" err="1" smtClean="0">
                <a:latin typeface="Calibri" panose="020F0502020204030204" pitchFamily="34" charset="0"/>
              </a:rPr>
              <a:t>Shahzad</a:t>
            </a:r>
            <a:r>
              <a:rPr lang="en-US" altLang="ko-KR" sz="2000" b="1" dirty="0" smtClean="0">
                <a:latin typeface="Calibri" panose="020F0502020204030204" pitchFamily="34" charset="0"/>
              </a:rPr>
              <a:t> </a:t>
            </a:r>
            <a:r>
              <a:rPr lang="en-US" altLang="ko-KR" dirty="0">
                <a:latin typeface="Calibri" panose="020F0502020204030204" pitchFamily="34" charset="0"/>
              </a:rPr>
              <a:t>- Software Fractional Strategy </a:t>
            </a:r>
            <a:r>
              <a:rPr lang="en-US" altLang="ko-KR" dirty="0" smtClean="0">
                <a:latin typeface="Calibri" panose="020F0502020204030204" pitchFamily="34" charset="0"/>
              </a:rPr>
              <a:t>Consultant/Architect</a:t>
            </a:r>
          </a:p>
          <a:p>
            <a:r>
              <a:rPr lang="en-US" altLang="ko-KR" dirty="0">
                <a:latin typeface="Calibri" panose="020F0502020204030204" pitchFamily="34" charset="0"/>
                <a:hlinkClick r:id="rId4"/>
              </a:rPr>
              <a:t>https://cognitiveconvergence.com</a:t>
            </a:r>
            <a:r>
              <a:rPr lang="en-US" altLang="ko-KR" dirty="0" smtClean="0">
                <a:latin typeface="Calibri" panose="020F0502020204030204" pitchFamily="34" charset="0"/>
                <a:hlinkClick r:id="rId4"/>
              </a:rPr>
              <a:t>/</a:t>
            </a:r>
            <a:r>
              <a:rPr lang="en-US" altLang="ko-KR" dirty="0" smtClean="0">
                <a:latin typeface="Calibri" panose="020F0502020204030204" pitchFamily="34" charset="0"/>
              </a:rPr>
              <a:t> </a:t>
            </a:r>
            <a:endParaRPr lang="en-US" altLang="ko-KR" dirty="0">
              <a:latin typeface="Calibri" panose="020F0502020204030204" pitchFamily="34" charset="0"/>
            </a:endParaRPr>
          </a:p>
        </p:txBody>
      </p:sp>
      <p:sp>
        <p:nvSpPr>
          <p:cNvPr id="8" name="Rectangle 7"/>
          <p:cNvSpPr/>
          <p:nvPr/>
        </p:nvSpPr>
        <p:spPr>
          <a:xfrm>
            <a:off x="2908769" y="4872751"/>
            <a:ext cx="5656525" cy="1754326"/>
          </a:xfrm>
          <a:prstGeom prst="rect">
            <a:avLst/>
          </a:prstGeom>
        </p:spPr>
        <p:txBody>
          <a:bodyPr wrap="square">
            <a:spAutoFit/>
          </a:bodyPr>
          <a:lstStyle/>
          <a:p>
            <a:r>
              <a:rPr lang="en-US" b="1" dirty="0"/>
              <a:t>About  Institute: </a:t>
            </a:r>
          </a:p>
          <a:p>
            <a:r>
              <a:rPr lang="en-US" dirty="0" err="1"/>
              <a:t>NexSkill</a:t>
            </a:r>
            <a:r>
              <a:rPr lang="en-US" dirty="0"/>
              <a:t> is Pakistan's leading IT training institute, providing the best IT training in Pakistan. </a:t>
            </a:r>
            <a:r>
              <a:rPr lang="en-US" dirty="0" err="1"/>
              <a:t>NexSkill</a:t>
            </a:r>
            <a:r>
              <a:rPr lang="en-US" dirty="0"/>
              <a:t> offers a variety of professional learning </a:t>
            </a:r>
            <a:r>
              <a:rPr lang="en-US" dirty="0" smtClean="0"/>
              <a:t>platforms </a:t>
            </a:r>
            <a:r>
              <a:rPr lang="en-US" dirty="0"/>
              <a:t>to its students.</a:t>
            </a:r>
          </a:p>
          <a:p>
            <a:r>
              <a:rPr lang="en-US" dirty="0">
                <a:hlinkClick r:id="rId5"/>
              </a:rPr>
              <a:t>https://www.nexskill.com/</a:t>
            </a:r>
            <a:r>
              <a:rPr lang="en-US" dirty="0"/>
              <a:t> </a:t>
            </a:r>
            <a:r>
              <a:rPr lang="en-US" dirty="0" smtClean="0"/>
              <a:t>`</a:t>
            </a:r>
            <a:endParaRPr lang="en-US" dirty="0"/>
          </a:p>
        </p:txBody>
      </p:sp>
      <p:pic>
        <p:nvPicPr>
          <p:cNvPr id="10" name="Picture 9"/>
          <p:cNvPicPr>
            <a:picLocks noChangeAspect="1"/>
          </p:cNvPicPr>
          <p:nvPr/>
        </p:nvPicPr>
        <p:blipFill>
          <a:blip r:embed="rId6"/>
          <a:stretch>
            <a:fillRect/>
          </a:stretch>
        </p:blipFill>
        <p:spPr>
          <a:xfrm>
            <a:off x="-1" y="677026"/>
            <a:ext cx="2833818" cy="6180974"/>
          </a:xfrm>
          <a:prstGeom prst="rect">
            <a:avLst/>
          </a:prstGeom>
        </p:spPr>
      </p:pic>
      <p:sp>
        <p:nvSpPr>
          <p:cNvPr id="11" name="Rectangle 10"/>
          <p:cNvSpPr/>
          <p:nvPr/>
        </p:nvSpPr>
        <p:spPr>
          <a:xfrm>
            <a:off x="2758866" y="663310"/>
            <a:ext cx="6665220" cy="2308324"/>
          </a:xfrm>
          <a:prstGeom prst="rect">
            <a:avLst/>
          </a:prstGeom>
        </p:spPr>
        <p:txBody>
          <a:bodyPr wrap="square">
            <a:spAutoFit/>
          </a:bodyPr>
          <a:lstStyle/>
          <a:p>
            <a:r>
              <a:rPr lang="en-US" b="1" dirty="0" smtClean="0"/>
              <a:t>Here in </a:t>
            </a:r>
            <a:r>
              <a:rPr lang="en-US" b="1" dirty="0"/>
              <a:t>this </a:t>
            </a:r>
            <a:r>
              <a:rPr lang="en-US" b="1" dirty="0" smtClean="0"/>
              <a:t>part of course</a:t>
            </a:r>
            <a:r>
              <a:rPr lang="en-US" b="1" dirty="0"/>
              <a:t>,</a:t>
            </a:r>
            <a:r>
              <a:rPr lang="en-US" dirty="0"/>
              <a:t> you’ll learn to build fully functional web applications using Bubble.io, a no‑code/low‑code platform that lets you visually design interfaces, define workflows, and manage data without writing code.  You will explore essential concepts including pages, elements, data types, and workflows, along with the fundamentals of structuring databases and designing responsive layouts using Bubble’s </a:t>
            </a:r>
            <a:r>
              <a:rPr lang="en-US" dirty="0" err="1"/>
              <a:t>flexbox</a:t>
            </a:r>
            <a:r>
              <a:rPr lang="en-US" dirty="0"/>
              <a:t>‑based engine.  </a:t>
            </a:r>
          </a:p>
        </p:txBody>
      </p:sp>
      <p:pic>
        <p:nvPicPr>
          <p:cNvPr id="2" name="Picture 1"/>
          <p:cNvPicPr>
            <a:picLocks noChangeAspect="1"/>
          </p:cNvPicPr>
          <p:nvPr/>
        </p:nvPicPr>
        <p:blipFill>
          <a:blip r:embed="rId7"/>
          <a:stretch>
            <a:fillRect/>
          </a:stretch>
        </p:blipFill>
        <p:spPr>
          <a:xfrm>
            <a:off x="9499038" y="671699"/>
            <a:ext cx="2730437" cy="6181880"/>
          </a:xfrm>
          <a:prstGeom prst="rect">
            <a:avLst/>
          </a:prstGeom>
        </p:spPr>
      </p:pic>
    </p:spTree>
    <p:extLst>
      <p:ext uri="{BB962C8B-B14F-4D97-AF65-F5344CB8AC3E}">
        <p14:creationId xmlns:p14="http://schemas.microsoft.com/office/powerpoint/2010/main" val="210783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a16="http://schemas.microsoft.com/office/drawing/2014/main" xmlns=""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a16="http://schemas.microsoft.com/office/drawing/2014/main" xmlns=""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a16="http://schemas.microsoft.com/office/drawing/2014/main" xmlns=""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6" name="Rectangle 5"/>
          <p:cNvSpPr/>
          <p:nvPr/>
        </p:nvSpPr>
        <p:spPr>
          <a:xfrm>
            <a:off x="42950" y="687713"/>
            <a:ext cx="9586825" cy="3970318"/>
          </a:xfrm>
          <a:prstGeom prst="rect">
            <a:avLst/>
          </a:prstGeom>
        </p:spPr>
        <p:txBody>
          <a:bodyPr wrap="square">
            <a:spAutoFit/>
          </a:bodyPr>
          <a:lstStyle/>
          <a:p>
            <a:pPr marL="285750" indent="-285750">
              <a:buFont typeface="Wingdings" panose="05000000000000000000" pitchFamily="2" charset="2"/>
              <a:buChar char="q"/>
            </a:pPr>
            <a:r>
              <a:rPr lang="en-US" dirty="0" smtClean="0"/>
              <a:t>Bubble.io </a:t>
            </a:r>
            <a:r>
              <a:rPr lang="en-US" dirty="0"/>
              <a:t>is a no‑code/low‑code platform** that allows users to build fully functional web applications without writing traditional code, using a visual drag‑and‑drop editor and workflow logic. </a:t>
            </a:r>
          </a:p>
          <a:p>
            <a:pPr marL="285750" indent="-285750">
              <a:buFont typeface="Wingdings" panose="05000000000000000000" pitchFamily="2" charset="2"/>
              <a:buChar char="q"/>
            </a:pPr>
            <a:r>
              <a:rPr lang="en-US" dirty="0" smtClean="0"/>
              <a:t>It </a:t>
            </a:r>
            <a:r>
              <a:rPr lang="en-US" dirty="0"/>
              <a:t>provides tools for UI design, database creation, workflows, APIs, and deployment—all within one unified </a:t>
            </a:r>
            <a:r>
              <a:rPr lang="en-US" dirty="0" smtClean="0"/>
              <a:t>platform.</a:t>
            </a:r>
            <a:endParaRPr lang="en-US" dirty="0" smtClean="0"/>
          </a:p>
          <a:p>
            <a:r>
              <a:rPr lang="en-US" b="1" dirty="0" smtClean="0"/>
              <a:t>No‑Code </a:t>
            </a:r>
            <a:r>
              <a:rPr lang="en-US" b="1" dirty="0"/>
              <a:t>/ Low‑Code Fundamentals &amp; Use‑Cases**</a:t>
            </a:r>
          </a:p>
          <a:p>
            <a:r>
              <a:rPr lang="en-US" dirty="0" smtClean="0"/>
              <a:t>No‑code/low‑code </a:t>
            </a:r>
            <a:r>
              <a:rPr lang="en-US" dirty="0"/>
              <a:t>platforms **democratize software development**, enabling entrepreneurs, designers, and non‑technical users to create digital products without needing programming skills. </a:t>
            </a:r>
          </a:p>
          <a:p>
            <a:r>
              <a:rPr lang="en-US" dirty="0" smtClean="0"/>
              <a:t>These </a:t>
            </a:r>
            <a:r>
              <a:rPr lang="en-US" dirty="0"/>
              <a:t>platforms are ideal for:</a:t>
            </a:r>
          </a:p>
          <a:p>
            <a:pPr marL="742950" lvl="1" indent="-285750">
              <a:buFont typeface="Wingdings" panose="05000000000000000000" pitchFamily="2" charset="2"/>
              <a:buChar char="ü"/>
            </a:pPr>
            <a:r>
              <a:rPr lang="en-US" dirty="0"/>
              <a:t>   </a:t>
            </a:r>
            <a:r>
              <a:rPr lang="en-US" dirty="0" smtClean="0"/>
              <a:t>Rapid </a:t>
            </a:r>
            <a:r>
              <a:rPr lang="en-US" dirty="0"/>
              <a:t>prototyping and MVP development</a:t>
            </a:r>
          </a:p>
          <a:p>
            <a:pPr marL="742950" lvl="1" indent="-285750">
              <a:buFont typeface="Wingdings" panose="05000000000000000000" pitchFamily="2" charset="2"/>
              <a:buChar char="ü"/>
            </a:pPr>
            <a:r>
              <a:rPr lang="en-US" dirty="0"/>
              <a:t>   </a:t>
            </a:r>
            <a:r>
              <a:rPr lang="en-US" dirty="0" smtClean="0"/>
              <a:t>Launching </a:t>
            </a:r>
            <a:r>
              <a:rPr lang="en-US" dirty="0"/>
              <a:t>startups or testing business ideas quickly</a:t>
            </a:r>
          </a:p>
          <a:p>
            <a:pPr marL="742950" lvl="1" indent="-285750">
              <a:buFont typeface="Wingdings" panose="05000000000000000000" pitchFamily="2" charset="2"/>
              <a:buChar char="ü"/>
            </a:pPr>
            <a:r>
              <a:rPr lang="en-US" dirty="0"/>
              <a:t>   </a:t>
            </a:r>
            <a:r>
              <a:rPr lang="en-US" dirty="0" smtClean="0"/>
              <a:t>Building </a:t>
            </a:r>
            <a:r>
              <a:rPr lang="en-US" dirty="0"/>
              <a:t>internal tools and business automation</a:t>
            </a:r>
          </a:p>
          <a:p>
            <a:pPr marL="742950" lvl="1" indent="-285750">
              <a:buFont typeface="Wingdings" panose="05000000000000000000" pitchFamily="2" charset="2"/>
              <a:buChar char="ü"/>
            </a:pPr>
            <a:r>
              <a:rPr lang="en-US" dirty="0"/>
              <a:t>   </a:t>
            </a:r>
            <a:r>
              <a:rPr lang="en-US" dirty="0" smtClean="0"/>
              <a:t>Creating </a:t>
            </a:r>
            <a:r>
              <a:rPr lang="en-US" dirty="0"/>
              <a:t>scalable web apps without a full engineering </a:t>
            </a:r>
            <a:r>
              <a:rPr lang="en-US" dirty="0" smtClean="0"/>
              <a:t>team</a:t>
            </a:r>
            <a:endParaRPr lang="en-US" dirty="0"/>
          </a:p>
        </p:txBody>
      </p:sp>
      <p:sp>
        <p:nvSpPr>
          <p:cNvPr id="9" name="Rectangle 8"/>
          <p:cNvSpPr/>
          <p:nvPr/>
        </p:nvSpPr>
        <p:spPr>
          <a:xfrm>
            <a:off x="42950" y="123070"/>
            <a:ext cx="2201244" cy="369332"/>
          </a:xfrm>
          <a:prstGeom prst="rect">
            <a:avLst/>
          </a:prstGeom>
        </p:spPr>
        <p:txBody>
          <a:bodyPr wrap="none">
            <a:spAutoFit/>
          </a:bodyPr>
          <a:lstStyle/>
          <a:p>
            <a:r>
              <a:rPr lang="en-US" b="1" dirty="0">
                <a:solidFill>
                  <a:schemeClr val="bg1"/>
                </a:solidFill>
              </a:rPr>
              <a:t>What is </a:t>
            </a:r>
            <a:r>
              <a:rPr lang="en-US" b="1">
                <a:solidFill>
                  <a:schemeClr val="bg1"/>
                </a:solidFill>
              </a:rPr>
              <a:t>Bubble.io</a:t>
            </a:r>
            <a:r>
              <a:rPr lang="en-US" b="1" smtClean="0">
                <a:solidFill>
                  <a:schemeClr val="bg1"/>
                </a:solidFill>
              </a:rPr>
              <a:t>?</a:t>
            </a:r>
            <a:endParaRPr lang="en-US" b="1" dirty="0">
              <a:solidFill>
                <a:schemeClr val="bg1"/>
              </a:solidFill>
            </a:endParaRPr>
          </a:p>
        </p:txBody>
      </p:sp>
    </p:spTree>
    <p:extLst>
      <p:ext uri="{BB962C8B-B14F-4D97-AF65-F5344CB8AC3E}">
        <p14:creationId xmlns:p14="http://schemas.microsoft.com/office/powerpoint/2010/main" val="16191285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a16="http://schemas.microsoft.com/office/drawing/2014/main" xmlns=""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a16="http://schemas.microsoft.com/office/drawing/2014/main" xmlns=""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a16="http://schemas.microsoft.com/office/drawing/2014/main" xmlns=""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3" name="Rectangle 2"/>
          <p:cNvSpPr/>
          <p:nvPr/>
        </p:nvSpPr>
        <p:spPr>
          <a:xfrm>
            <a:off x="65195" y="799785"/>
            <a:ext cx="8639175" cy="4801314"/>
          </a:xfrm>
          <a:prstGeom prst="rect">
            <a:avLst/>
          </a:prstGeom>
        </p:spPr>
        <p:txBody>
          <a:bodyPr wrap="square">
            <a:spAutoFit/>
          </a:bodyPr>
          <a:lstStyle/>
          <a:p>
            <a:pPr marL="285750" indent="-285750">
              <a:buFont typeface="Wingdings" panose="05000000000000000000" pitchFamily="2" charset="2"/>
              <a:buChar char="q"/>
            </a:pPr>
            <a:r>
              <a:rPr lang="en-US" dirty="0" smtClean="0"/>
              <a:t>Bubble </a:t>
            </a:r>
            <a:r>
              <a:rPr lang="en-US" dirty="0"/>
              <a:t>supports building </a:t>
            </a:r>
            <a:r>
              <a:rPr lang="en-US" dirty="0" smtClean="0"/>
              <a:t>complex </a:t>
            </a:r>
            <a:r>
              <a:rPr lang="en-US" dirty="0"/>
              <a:t>and scalable web applications**, including social networks, marketplaces, directories, productivity tools, and more. </a:t>
            </a:r>
            <a:r>
              <a:rPr lang="en-US" dirty="0" smtClean="0">
                <a:hlinkClick r:id="rId5"/>
              </a:rPr>
              <a:t>https</a:t>
            </a:r>
            <a:r>
              <a:rPr lang="en-US" dirty="0">
                <a:hlinkClick r:id="rId5"/>
              </a:rPr>
              <a:t>://medium.com/@</a:t>
            </a:r>
            <a:r>
              <a:rPr lang="en-US" dirty="0" smtClean="0">
                <a:hlinkClick r:id="rId5"/>
              </a:rPr>
              <a:t>thomasczerny/bubble-io-an-invaluable-no-code-low-code-skill-you-need-to-know-1abfc09be117</a:t>
            </a:r>
            <a:endParaRPr lang="en-US" dirty="0" smtClean="0"/>
          </a:p>
          <a:p>
            <a:endParaRPr lang="en-US" dirty="0"/>
          </a:p>
          <a:p>
            <a:pPr marL="285750" indent="-285750">
              <a:buFont typeface="Wingdings" panose="05000000000000000000" pitchFamily="2" charset="2"/>
              <a:buChar char="q"/>
            </a:pPr>
            <a:r>
              <a:rPr lang="en-US" dirty="0" smtClean="0"/>
              <a:t>Training </a:t>
            </a:r>
            <a:r>
              <a:rPr lang="en-US" dirty="0"/>
              <a:t>examples from Bubble courses include:</a:t>
            </a:r>
          </a:p>
          <a:p>
            <a:pPr marL="742950" lvl="1" indent="-285750">
              <a:buFont typeface="Wingdings" panose="05000000000000000000" pitchFamily="2" charset="2"/>
              <a:buChar char="q"/>
            </a:pPr>
            <a:r>
              <a:rPr lang="en-US" dirty="0"/>
              <a:t>    </a:t>
            </a:r>
            <a:r>
              <a:rPr lang="en-US" dirty="0" smtClean="0"/>
              <a:t>A Tinder‑style </a:t>
            </a:r>
            <a:r>
              <a:rPr lang="en-US" dirty="0"/>
              <a:t>matching </a:t>
            </a:r>
            <a:r>
              <a:rPr lang="en-US" dirty="0" smtClean="0"/>
              <a:t>app </a:t>
            </a:r>
            <a:r>
              <a:rPr lang="en-US" dirty="0"/>
              <a:t>built using Bubble layouts, workflows, and user data models. </a:t>
            </a:r>
          </a:p>
          <a:p>
            <a:pPr lvl="1"/>
            <a:r>
              <a:rPr lang="en-US" dirty="0" smtClean="0">
                <a:hlinkClick r:id="rId6"/>
              </a:rPr>
              <a:t>https</a:t>
            </a:r>
            <a:r>
              <a:rPr lang="en-US" dirty="0">
                <a:hlinkClick r:id="rId6"/>
              </a:rPr>
              <a:t>://www.udemy.com/course/build-fully-functional-apps-without-coding-using-bubble</a:t>
            </a:r>
            <a:r>
              <a:rPr lang="en-US" dirty="0" smtClean="0">
                <a:hlinkClick r:id="rId6"/>
              </a:rPr>
              <a:t>/</a:t>
            </a:r>
            <a:r>
              <a:rPr lang="en-US" dirty="0" smtClean="0"/>
              <a:t> </a:t>
            </a:r>
          </a:p>
          <a:p>
            <a:pPr lvl="1"/>
            <a:endParaRPr lang="en-US" dirty="0"/>
          </a:p>
          <a:p>
            <a:pPr marL="742950" lvl="1" indent="-285750">
              <a:buFont typeface="Wingdings" panose="05000000000000000000" pitchFamily="2" charset="2"/>
              <a:buChar char="q"/>
            </a:pPr>
            <a:r>
              <a:rPr lang="en-US" dirty="0"/>
              <a:t>    </a:t>
            </a:r>
            <a:r>
              <a:rPr lang="en-US" dirty="0" smtClean="0"/>
              <a:t>A Twitter‑like </a:t>
            </a:r>
            <a:r>
              <a:rPr lang="en-US" dirty="0"/>
              <a:t>social </a:t>
            </a:r>
            <a:r>
              <a:rPr lang="en-US" dirty="0" smtClean="0"/>
              <a:t>network </a:t>
            </a:r>
            <a:r>
              <a:rPr lang="en-US" dirty="0"/>
              <a:t>demonstrating database structuring, user profiles, timelines, and interactions. </a:t>
            </a:r>
            <a:r>
              <a:rPr lang="en-US" dirty="0" smtClean="0"/>
              <a:t>[https</a:t>
            </a:r>
            <a:r>
              <a:rPr lang="en-US" dirty="0"/>
              <a:t>://</a:t>
            </a:r>
            <a:r>
              <a:rPr lang="en-US" dirty="0" smtClean="0"/>
              <a:t>www.keyskillset.com/nocodify]</a:t>
            </a:r>
          </a:p>
          <a:p>
            <a:pPr lvl="1"/>
            <a:endParaRPr lang="en-US" dirty="0"/>
          </a:p>
          <a:p>
            <a:pPr marL="285750" indent="-285750">
              <a:buFont typeface="Wingdings" panose="05000000000000000000" pitchFamily="2" charset="2"/>
              <a:buChar char="q"/>
            </a:pPr>
            <a:r>
              <a:rPr lang="en-US" dirty="0" smtClean="0"/>
              <a:t>Bubble </a:t>
            </a:r>
            <a:r>
              <a:rPr lang="en-US" dirty="0"/>
              <a:t>Academy highlights that creators can build </a:t>
            </a:r>
            <a:r>
              <a:rPr lang="en-US" dirty="0" smtClean="0"/>
              <a:t>native </a:t>
            </a:r>
            <a:r>
              <a:rPr lang="en-US" dirty="0"/>
              <a:t>mobile apps, AI‑powered apps, and production‑ready </a:t>
            </a:r>
            <a:r>
              <a:rPr lang="en-US" dirty="0" smtClean="0"/>
              <a:t>systems, </a:t>
            </a:r>
            <a:r>
              <a:rPr lang="en-US" dirty="0"/>
              <a:t>showcasing the platform’s versatility. </a:t>
            </a:r>
            <a:r>
              <a:rPr lang="en-US" dirty="0" smtClean="0">
                <a:hlinkClick r:id="rId7"/>
              </a:rPr>
              <a:t>https</a:t>
            </a:r>
            <a:r>
              <a:rPr lang="en-US" dirty="0">
                <a:hlinkClick r:id="rId7"/>
              </a:rPr>
              <a:t>://</a:t>
            </a:r>
            <a:r>
              <a:rPr lang="en-US" dirty="0" smtClean="0">
                <a:hlinkClick r:id="rId7"/>
              </a:rPr>
              <a:t>bubble.io/academy</a:t>
            </a:r>
            <a:r>
              <a:rPr lang="en-US" dirty="0" smtClean="0"/>
              <a:t> </a:t>
            </a:r>
            <a:endParaRPr lang="en-US" dirty="0"/>
          </a:p>
        </p:txBody>
      </p:sp>
      <p:sp>
        <p:nvSpPr>
          <p:cNvPr id="4" name="Rectangle 3"/>
          <p:cNvSpPr/>
          <p:nvPr/>
        </p:nvSpPr>
        <p:spPr>
          <a:xfrm>
            <a:off x="65195" y="123070"/>
            <a:ext cx="4015843" cy="369332"/>
          </a:xfrm>
          <a:prstGeom prst="rect">
            <a:avLst/>
          </a:prstGeom>
        </p:spPr>
        <p:txBody>
          <a:bodyPr wrap="none">
            <a:spAutoFit/>
          </a:bodyPr>
          <a:lstStyle/>
          <a:p>
            <a:r>
              <a:rPr lang="en-US" b="1" dirty="0" smtClean="0">
                <a:solidFill>
                  <a:schemeClr val="bg1"/>
                </a:solidFill>
              </a:rPr>
              <a:t>Examples </a:t>
            </a:r>
            <a:r>
              <a:rPr lang="en-US" b="1" dirty="0">
                <a:solidFill>
                  <a:schemeClr val="bg1"/>
                </a:solidFill>
              </a:rPr>
              <a:t>of Apps Built with Bubble</a:t>
            </a:r>
          </a:p>
        </p:txBody>
      </p:sp>
    </p:spTree>
    <p:extLst>
      <p:ext uri="{BB962C8B-B14F-4D97-AF65-F5344CB8AC3E}">
        <p14:creationId xmlns:p14="http://schemas.microsoft.com/office/powerpoint/2010/main" val="18222400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a16="http://schemas.microsoft.com/office/drawing/2014/main" xmlns=""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a16="http://schemas.microsoft.com/office/drawing/2014/main" xmlns=""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a16="http://schemas.microsoft.com/office/drawing/2014/main" xmlns=""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3" name="Rectangle 2"/>
          <p:cNvSpPr/>
          <p:nvPr/>
        </p:nvSpPr>
        <p:spPr>
          <a:xfrm>
            <a:off x="-80757" y="671461"/>
            <a:ext cx="9499690" cy="5355312"/>
          </a:xfrm>
          <a:prstGeom prst="rect">
            <a:avLst/>
          </a:prstGeom>
        </p:spPr>
        <p:txBody>
          <a:bodyPr wrap="square">
            <a:spAutoFit/>
          </a:bodyPr>
          <a:lstStyle/>
          <a:p>
            <a:pPr marL="285750" indent="-285750">
              <a:buFont typeface="Wingdings" panose="05000000000000000000" pitchFamily="2" charset="2"/>
              <a:buChar char="q"/>
            </a:pPr>
            <a:r>
              <a:rPr lang="en-US" b="1" dirty="0" smtClean="0"/>
              <a:t>Design Tab </a:t>
            </a:r>
            <a:r>
              <a:rPr lang="en-US" b="1" dirty="0"/>
              <a:t>—</a:t>
            </a:r>
            <a:r>
              <a:rPr lang="en-US" dirty="0"/>
              <a:t> Used to build and customize the visual layout of your app using Bubble’s drag‑and‑drop editor. This is where you add UI elements, arrange containers, and structure responsive layouts. </a:t>
            </a:r>
            <a:endParaRPr lang="en-US" dirty="0" smtClean="0"/>
          </a:p>
          <a:p>
            <a:pPr marL="285750" indent="-285750">
              <a:buFont typeface="Wingdings" panose="05000000000000000000" pitchFamily="2" charset="2"/>
              <a:buChar char="q"/>
            </a:pPr>
            <a:r>
              <a:rPr lang="en-US" b="1" dirty="0" smtClean="0"/>
              <a:t>Workflow Tab </a:t>
            </a:r>
            <a:r>
              <a:rPr lang="en-US" b="1" dirty="0"/>
              <a:t>—</a:t>
            </a:r>
            <a:r>
              <a:rPr lang="en-US" dirty="0"/>
              <a:t> Defines app logic through event‑driven actions such as button clicks, data changes, and navigation. It controls how the app behaves in response to user interactions. </a:t>
            </a:r>
          </a:p>
          <a:p>
            <a:pPr marL="285750" indent="-285750">
              <a:buFont typeface="Wingdings" panose="05000000000000000000" pitchFamily="2" charset="2"/>
              <a:buChar char="q"/>
            </a:pPr>
            <a:r>
              <a:rPr lang="en-US" b="1" dirty="0" smtClean="0"/>
              <a:t>Data Tab </a:t>
            </a:r>
            <a:r>
              <a:rPr lang="en-US" b="1" dirty="0"/>
              <a:t>—</a:t>
            </a:r>
            <a:r>
              <a:rPr lang="en-US" dirty="0"/>
              <a:t> Allows you to manage your database, configure data types, set fields, create privacy rules, and view live app data. Essential for handling dynamic </a:t>
            </a:r>
            <a:r>
              <a:rPr lang="en-US" dirty="0" smtClean="0"/>
              <a:t>content.</a:t>
            </a:r>
          </a:p>
          <a:p>
            <a:pPr marL="285750" indent="-285750">
              <a:buFont typeface="Wingdings" panose="05000000000000000000" pitchFamily="2" charset="2"/>
              <a:buChar char="q"/>
            </a:pPr>
            <a:r>
              <a:rPr lang="en-US" b="1" dirty="0" smtClean="0"/>
              <a:t>Styles Tab </a:t>
            </a:r>
            <a:r>
              <a:rPr lang="en-US" b="1" dirty="0"/>
              <a:t>—</a:t>
            </a:r>
            <a:r>
              <a:rPr lang="en-US" dirty="0"/>
              <a:t> Provides centralized styling for text, buttons, and visual elements, ensuring consistent design by applying reusable style definitions across your app. </a:t>
            </a:r>
            <a:r>
              <a:rPr lang="en-US" dirty="0" smtClean="0">
                <a:hlinkClick r:id="rId5"/>
              </a:rPr>
              <a:t>https</a:t>
            </a:r>
            <a:r>
              <a:rPr lang="en-US" dirty="0">
                <a:hlinkClick r:id="rId5"/>
              </a:rPr>
              <a:t>://</a:t>
            </a:r>
            <a:r>
              <a:rPr lang="en-US" dirty="0" smtClean="0">
                <a:hlinkClick r:id="rId5"/>
              </a:rPr>
              <a:t>www.youtube.com/watch?v=N2Lcke85fHM</a:t>
            </a:r>
            <a:r>
              <a:rPr lang="en-US" dirty="0" smtClean="0"/>
              <a:t> </a:t>
            </a:r>
            <a:endParaRPr lang="en-US" dirty="0"/>
          </a:p>
          <a:p>
            <a:pPr marL="285750" indent="-285750">
              <a:buFont typeface="Wingdings" panose="05000000000000000000" pitchFamily="2" charset="2"/>
              <a:buChar char="q"/>
            </a:pPr>
            <a:r>
              <a:rPr lang="en-US" b="1" dirty="0" smtClean="0"/>
              <a:t>Settings </a:t>
            </a:r>
            <a:r>
              <a:rPr lang="en-US" b="1" dirty="0"/>
              <a:t>— </a:t>
            </a:r>
            <a:r>
              <a:rPr lang="en-US" dirty="0"/>
              <a:t>Includes application configuration such as SEO, domain setup, email settings, API keys, version control, and general app‑level options. </a:t>
            </a:r>
            <a:r>
              <a:rPr lang="en-US" dirty="0" smtClean="0">
                <a:hlinkClick r:id="rId6"/>
              </a:rPr>
              <a:t>https</a:t>
            </a:r>
            <a:r>
              <a:rPr lang="en-US" dirty="0">
                <a:hlinkClick r:id="rId6"/>
              </a:rPr>
              <a:t>://www.udemy.com/course/build-fully-functional-apps-without-coding-using-bubble</a:t>
            </a:r>
            <a:r>
              <a:rPr lang="en-US" dirty="0" smtClean="0">
                <a:hlinkClick r:id="rId6"/>
              </a:rPr>
              <a:t>/</a:t>
            </a:r>
            <a:r>
              <a:rPr lang="en-US" dirty="0" smtClean="0"/>
              <a:t> </a:t>
            </a:r>
            <a:endParaRPr lang="en-US" dirty="0"/>
          </a:p>
          <a:p>
            <a:pPr marL="285750" indent="-285750">
              <a:buFont typeface="Wingdings" panose="05000000000000000000" pitchFamily="2" charset="2"/>
              <a:buChar char="q"/>
            </a:pPr>
            <a:r>
              <a:rPr lang="en-US" b="1" dirty="0" smtClean="0"/>
              <a:t>Logs </a:t>
            </a:r>
            <a:r>
              <a:rPr lang="en-US" b="1" dirty="0"/>
              <a:t>— </a:t>
            </a:r>
            <a:r>
              <a:rPr lang="en-US" dirty="0"/>
              <a:t>Displays workflow execution logs, performance metrics, and debugging information to help diagnose issues and optimize app behavior. </a:t>
            </a:r>
            <a:r>
              <a:rPr lang="en-US" dirty="0" smtClean="0">
                <a:hlinkClick r:id="rId6"/>
              </a:rPr>
              <a:t>https</a:t>
            </a:r>
            <a:r>
              <a:rPr lang="en-US" dirty="0">
                <a:hlinkClick r:id="rId6"/>
              </a:rPr>
              <a:t>://www.udemy.com/course/build-fully-functional-apps-without-coding-using-bubble</a:t>
            </a:r>
            <a:r>
              <a:rPr lang="en-US" dirty="0" smtClean="0">
                <a:hlinkClick r:id="rId6"/>
              </a:rPr>
              <a:t>/</a:t>
            </a:r>
            <a:r>
              <a:rPr lang="en-US" dirty="0" smtClean="0"/>
              <a:t> </a:t>
            </a:r>
            <a:endParaRPr lang="en-US" dirty="0"/>
          </a:p>
        </p:txBody>
      </p:sp>
      <p:sp>
        <p:nvSpPr>
          <p:cNvPr id="4" name="Rectangle 3"/>
          <p:cNvSpPr/>
          <p:nvPr/>
        </p:nvSpPr>
        <p:spPr>
          <a:xfrm>
            <a:off x="160285" y="153846"/>
            <a:ext cx="3332964" cy="369332"/>
          </a:xfrm>
          <a:prstGeom prst="rect">
            <a:avLst/>
          </a:prstGeom>
        </p:spPr>
        <p:txBody>
          <a:bodyPr wrap="none">
            <a:spAutoFit/>
          </a:bodyPr>
          <a:lstStyle/>
          <a:p>
            <a:r>
              <a:rPr lang="en-US" b="1" dirty="0">
                <a:solidFill>
                  <a:schemeClr val="bg1"/>
                </a:solidFill>
              </a:rPr>
              <a:t> Navigating the Bubble Editor</a:t>
            </a:r>
          </a:p>
        </p:txBody>
      </p:sp>
    </p:spTree>
    <p:extLst>
      <p:ext uri="{BB962C8B-B14F-4D97-AF65-F5344CB8AC3E}">
        <p14:creationId xmlns:p14="http://schemas.microsoft.com/office/powerpoint/2010/main" val="12101414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a16="http://schemas.microsoft.com/office/drawing/2014/main" xmlns=""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a16="http://schemas.microsoft.com/office/drawing/2014/main" xmlns=""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a16="http://schemas.microsoft.com/office/drawing/2014/main" xmlns=""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8" name="Rectangle 7"/>
          <p:cNvSpPr/>
          <p:nvPr/>
        </p:nvSpPr>
        <p:spPr>
          <a:xfrm>
            <a:off x="-33507" y="738425"/>
            <a:ext cx="9419992" cy="4893647"/>
          </a:xfrm>
          <a:prstGeom prst="rect">
            <a:avLst/>
          </a:prstGeom>
        </p:spPr>
        <p:txBody>
          <a:bodyPr wrap="square">
            <a:spAutoFit/>
          </a:bodyPr>
          <a:lstStyle/>
          <a:p>
            <a:pPr marL="285750" indent="-285750">
              <a:buFont typeface="Wingdings" panose="05000000000000000000" pitchFamily="2" charset="2"/>
              <a:buChar char="q"/>
            </a:pPr>
            <a:r>
              <a:rPr lang="en-US" b="1" dirty="0" smtClean="0"/>
              <a:t>Plugins </a:t>
            </a:r>
            <a:r>
              <a:rPr lang="en-US" b="1" dirty="0"/>
              <a:t>extend Bubble’s </a:t>
            </a:r>
            <a:r>
              <a:rPr lang="en-US" b="1" dirty="0" smtClean="0"/>
              <a:t>functionality</a:t>
            </a:r>
            <a:r>
              <a:rPr lang="en-US" dirty="0"/>
              <a:t>:</a:t>
            </a:r>
            <a:r>
              <a:rPr lang="en-US" dirty="0" smtClean="0"/>
              <a:t>, </a:t>
            </a:r>
            <a:r>
              <a:rPr lang="en-US" dirty="0"/>
              <a:t>allowing creators to integrate external services, add new UI elements, automate actions, and enhance app capabilities without custom coding. </a:t>
            </a:r>
            <a:r>
              <a:rPr lang="en-US" dirty="0" smtClean="0">
                <a:hlinkClick r:id="rId5"/>
              </a:rPr>
              <a:t>https</a:t>
            </a:r>
            <a:r>
              <a:rPr lang="en-US" dirty="0">
                <a:hlinkClick r:id="rId5"/>
              </a:rPr>
              <a:t>://www.udemy.com/course/build-fully-functional-apps-without-coding-using-bubble</a:t>
            </a:r>
            <a:r>
              <a:rPr lang="en-US" dirty="0" smtClean="0">
                <a:hlinkClick r:id="rId5"/>
              </a:rPr>
              <a:t>/</a:t>
            </a:r>
            <a:r>
              <a:rPr lang="en-US" dirty="0" smtClean="0"/>
              <a:t> </a:t>
            </a:r>
            <a:endParaRPr lang="en-US" dirty="0"/>
          </a:p>
          <a:p>
            <a:pPr marL="285750" indent="-285750">
              <a:buFont typeface="Wingdings" panose="05000000000000000000" pitchFamily="2" charset="2"/>
              <a:buChar char="q"/>
            </a:pPr>
            <a:r>
              <a:rPr lang="en-US" b="1" dirty="0" smtClean="0"/>
              <a:t>Connecting </a:t>
            </a:r>
            <a:r>
              <a:rPr lang="en-US" b="1" dirty="0"/>
              <a:t>your Bubble app to thousands of external </a:t>
            </a:r>
            <a:r>
              <a:rPr lang="en-US" b="1" dirty="0" smtClean="0"/>
              <a:t>services</a:t>
            </a:r>
            <a:r>
              <a:rPr lang="en-US" dirty="0" smtClean="0"/>
              <a:t> </a:t>
            </a:r>
            <a:r>
              <a:rPr lang="en-US" dirty="0"/>
              <a:t>(e.g., APIs, automation tools) is made possible through plugin integrations, enabling features like email delivery, </a:t>
            </a:r>
            <a:r>
              <a:rPr lang="en-US" dirty="0" err="1"/>
              <a:t>OAuth</a:t>
            </a:r>
            <a:r>
              <a:rPr lang="en-US" dirty="0"/>
              <a:t>, file handling, and third‑party automation. </a:t>
            </a:r>
            <a:r>
              <a:rPr lang="en-US" dirty="0" smtClean="0"/>
              <a:t>[ </a:t>
            </a:r>
            <a:r>
              <a:rPr lang="en-US" dirty="0" smtClean="0">
                <a:hlinkClick r:id="rId6"/>
              </a:rPr>
              <a:t>https</a:t>
            </a:r>
            <a:r>
              <a:rPr lang="en-US" dirty="0">
                <a:hlinkClick r:id="rId6"/>
              </a:rPr>
              <a:t>://</a:t>
            </a:r>
            <a:r>
              <a:rPr lang="en-US" dirty="0" smtClean="0">
                <a:hlinkClick r:id="rId6"/>
              </a:rPr>
              <a:t>www.youtube.com/playlist?list=PLd6fHsjyvH7z4Z8yCsp8Uu6MFqPI95KrW</a:t>
            </a:r>
            <a:r>
              <a:rPr lang="en-US" dirty="0" smtClean="0"/>
              <a:t> ]</a:t>
            </a:r>
            <a:endParaRPr lang="en-US" dirty="0"/>
          </a:p>
          <a:p>
            <a:pPr marL="285750" indent="-285750">
              <a:buFont typeface="Wingdings" panose="05000000000000000000" pitchFamily="2" charset="2"/>
              <a:buChar char="q"/>
            </a:pPr>
            <a:r>
              <a:rPr lang="en-US" b="1" dirty="0" smtClean="0"/>
              <a:t>Bubble </a:t>
            </a:r>
            <a:r>
              <a:rPr lang="en-US" b="1" dirty="0"/>
              <a:t>plugins</a:t>
            </a:r>
            <a:r>
              <a:rPr lang="en-US" dirty="0"/>
              <a:t> cover a wide range of functions, including:</a:t>
            </a:r>
          </a:p>
          <a:p>
            <a:pPr marL="742950" lvl="1" indent="-285750">
              <a:buFont typeface="Wingdings" panose="05000000000000000000" pitchFamily="2" charset="2"/>
              <a:buChar char="ü"/>
            </a:pPr>
            <a:r>
              <a:rPr lang="en-US" sz="1600" dirty="0" smtClean="0"/>
              <a:t>Security </a:t>
            </a:r>
            <a:r>
              <a:rPr lang="en-US" sz="1600" dirty="0"/>
              <a:t>&amp; authentication </a:t>
            </a:r>
            <a:r>
              <a:rPr lang="en-US" sz="1600" dirty="0" smtClean="0"/>
              <a:t>tools </a:t>
            </a:r>
            <a:r>
              <a:rPr lang="en-US" sz="1600" dirty="0"/>
              <a:t>(e.g., </a:t>
            </a:r>
            <a:r>
              <a:rPr lang="en-US" sz="1600" dirty="0" err="1"/>
              <a:t>OAuth</a:t>
            </a:r>
            <a:r>
              <a:rPr lang="en-US" sz="1600" dirty="0"/>
              <a:t> providers) </a:t>
            </a:r>
            <a:endParaRPr lang="en-US" sz="1600" dirty="0" smtClean="0"/>
          </a:p>
          <a:p>
            <a:pPr marL="742950" lvl="1" indent="-285750">
              <a:buFont typeface="Wingdings" panose="05000000000000000000" pitchFamily="2" charset="2"/>
              <a:buChar char="ü"/>
            </a:pPr>
            <a:r>
              <a:rPr lang="en-US" sz="1600" dirty="0" smtClean="0"/>
              <a:t>Workflow enhancers, </a:t>
            </a:r>
            <a:r>
              <a:rPr lang="en-US" sz="1600" dirty="0"/>
              <a:t>such as backend workflow tools and custom event </a:t>
            </a:r>
            <a:r>
              <a:rPr lang="en-US" sz="1600" dirty="0" smtClean="0"/>
              <a:t>plugins </a:t>
            </a:r>
          </a:p>
          <a:p>
            <a:pPr marL="742950" lvl="1" indent="-285750">
              <a:buFont typeface="Wingdings" panose="05000000000000000000" pitchFamily="2" charset="2"/>
              <a:buChar char="ü"/>
            </a:pPr>
            <a:r>
              <a:rPr lang="en-US" sz="1600" dirty="0" smtClean="0"/>
              <a:t>Email </a:t>
            </a:r>
            <a:r>
              <a:rPr lang="en-US" sz="1600" dirty="0"/>
              <a:t>&amp; communication </a:t>
            </a:r>
            <a:r>
              <a:rPr lang="en-US" sz="1600" dirty="0" smtClean="0"/>
              <a:t>services, </a:t>
            </a:r>
            <a:r>
              <a:rPr lang="en-US" sz="1600" dirty="0"/>
              <a:t>such as Postmark for transactional messages </a:t>
            </a:r>
            <a:endParaRPr lang="en-US" sz="1600" dirty="0" smtClean="0"/>
          </a:p>
          <a:p>
            <a:pPr marL="742950" lvl="1" indent="-285750">
              <a:buFont typeface="Wingdings" panose="05000000000000000000" pitchFamily="2" charset="2"/>
              <a:buChar char="ü"/>
            </a:pPr>
            <a:r>
              <a:rPr lang="en-US" sz="1600" dirty="0" smtClean="0"/>
              <a:t>Automation </a:t>
            </a:r>
            <a:r>
              <a:rPr lang="en-US" sz="1600" dirty="0"/>
              <a:t>&amp; tracking </a:t>
            </a:r>
            <a:r>
              <a:rPr lang="en-US" sz="1600" dirty="0" smtClean="0"/>
              <a:t>utilities, </a:t>
            </a:r>
            <a:r>
              <a:rPr lang="en-US" sz="1600" dirty="0"/>
              <a:t>like </a:t>
            </a:r>
            <a:r>
              <a:rPr lang="en-US" sz="1600" dirty="0" err="1"/>
              <a:t>LogSnag</a:t>
            </a:r>
            <a:r>
              <a:rPr lang="en-US" sz="1600" dirty="0"/>
              <a:t> for event logging or </a:t>
            </a:r>
            <a:r>
              <a:rPr lang="en-US" sz="1600" dirty="0" err="1"/>
              <a:t>BannerBear</a:t>
            </a:r>
            <a:r>
              <a:rPr lang="en-US" sz="1600" dirty="0"/>
              <a:t> for media creation </a:t>
            </a:r>
            <a:endParaRPr lang="en-US" sz="1600" dirty="0" smtClean="0"/>
          </a:p>
          <a:p>
            <a:pPr lvl="1"/>
            <a:r>
              <a:rPr lang="en-US" sz="1600" dirty="0" smtClean="0">
                <a:hlinkClick r:id="rId6"/>
              </a:rPr>
              <a:t>https</a:t>
            </a:r>
            <a:r>
              <a:rPr lang="en-US" sz="1600" dirty="0">
                <a:hlinkClick r:id="rId6"/>
              </a:rPr>
              <a:t>://</a:t>
            </a:r>
            <a:r>
              <a:rPr lang="en-US" sz="1600" dirty="0" smtClean="0">
                <a:hlinkClick r:id="rId6"/>
              </a:rPr>
              <a:t>www.youtube.com/playlist?list=PLd6fHsjyvH7z4Z8yCsp8Uu6MFqPI95KrW</a:t>
            </a:r>
            <a:r>
              <a:rPr lang="en-US" sz="1600" dirty="0" smtClean="0"/>
              <a:t> </a:t>
            </a:r>
            <a:endParaRPr lang="en-US" sz="1600" dirty="0"/>
          </a:p>
          <a:p>
            <a:pPr marL="285750" indent="-285750">
              <a:buFont typeface="Wingdings" panose="05000000000000000000" pitchFamily="2" charset="2"/>
              <a:buChar char="q"/>
            </a:pPr>
            <a:r>
              <a:rPr lang="en-US" b="1" dirty="0" smtClean="0"/>
              <a:t>Bubble </a:t>
            </a:r>
            <a:r>
              <a:rPr lang="en-US" b="1" dirty="0"/>
              <a:t>App </a:t>
            </a:r>
            <a:r>
              <a:rPr lang="en-US" b="1" dirty="0" smtClean="0"/>
              <a:t>Marketplace</a:t>
            </a:r>
            <a:r>
              <a:rPr lang="en-US" dirty="0" smtClean="0"/>
              <a:t> </a:t>
            </a:r>
            <a:r>
              <a:rPr lang="en-US" dirty="0"/>
              <a:t>provides both free and paid plugins to help integrate APIs, expand database features, improve UI components, or streamline workflows—making Bubble a highly flexible no‑code platform. </a:t>
            </a:r>
            <a:r>
              <a:rPr lang="en-US" dirty="0" smtClean="0">
                <a:hlinkClick r:id="rId7"/>
              </a:rPr>
              <a:t>https</a:t>
            </a:r>
            <a:r>
              <a:rPr lang="en-US" dirty="0">
                <a:hlinkClick r:id="rId7"/>
              </a:rPr>
              <a:t>://</a:t>
            </a:r>
            <a:r>
              <a:rPr lang="en-US" dirty="0" smtClean="0">
                <a:hlinkClick r:id="rId7"/>
              </a:rPr>
              <a:t>bubble.io/academy</a:t>
            </a:r>
            <a:r>
              <a:rPr lang="en-US" dirty="0"/>
              <a:t> </a:t>
            </a:r>
          </a:p>
        </p:txBody>
      </p:sp>
      <p:sp>
        <p:nvSpPr>
          <p:cNvPr id="9" name="Rectangle 8"/>
          <p:cNvSpPr/>
          <p:nvPr/>
        </p:nvSpPr>
        <p:spPr>
          <a:xfrm>
            <a:off x="-33507" y="123070"/>
            <a:ext cx="4110421" cy="369332"/>
          </a:xfrm>
          <a:prstGeom prst="rect">
            <a:avLst/>
          </a:prstGeom>
        </p:spPr>
        <p:txBody>
          <a:bodyPr wrap="none">
            <a:spAutoFit/>
          </a:bodyPr>
          <a:lstStyle/>
          <a:p>
            <a:r>
              <a:rPr lang="en-US" b="1" dirty="0">
                <a:solidFill>
                  <a:schemeClr val="bg1"/>
                </a:solidFill>
              </a:rPr>
              <a:t>Introduction to Plugins &amp; </a:t>
            </a:r>
            <a:r>
              <a:rPr lang="en-US" b="1" dirty="0" smtClean="0">
                <a:solidFill>
                  <a:schemeClr val="bg1"/>
                </a:solidFill>
              </a:rPr>
              <a:t>Extensions</a:t>
            </a:r>
            <a:endParaRPr lang="en-US" b="1" dirty="0">
              <a:solidFill>
                <a:schemeClr val="bg1"/>
              </a:solidFill>
            </a:endParaRPr>
          </a:p>
        </p:txBody>
      </p:sp>
    </p:spTree>
    <p:extLst>
      <p:ext uri="{BB962C8B-B14F-4D97-AF65-F5344CB8AC3E}">
        <p14:creationId xmlns:p14="http://schemas.microsoft.com/office/powerpoint/2010/main" val="8178763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a16="http://schemas.microsoft.com/office/drawing/2014/main" xmlns=""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a16="http://schemas.microsoft.com/office/drawing/2014/main" xmlns=""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a16="http://schemas.microsoft.com/office/drawing/2014/main" xmlns=""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5" name="Rectangle 4"/>
          <p:cNvSpPr/>
          <p:nvPr/>
        </p:nvSpPr>
        <p:spPr>
          <a:xfrm>
            <a:off x="14441" y="104198"/>
            <a:ext cx="2630848" cy="369332"/>
          </a:xfrm>
          <a:prstGeom prst="rect">
            <a:avLst/>
          </a:prstGeom>
        </p:spPr>
        <p:txBody>
          <a:bodyPr wrap="none">
            <a:spAutoFit/>
          </a:bodyPr>
          <a:lstStyle/>
          <a:p>
            <a:r>
              <a:rPr lang="en-US" b="1" dirty="0">
                <a:solidFill>
                  <a:schemeClr val="bg1"/>
                </a:solidFill>
              </a:rPr>
              <a:t>Core Bubble Concepts</a:t>
            </a:r>
          </a:p>
        </p:txBody>
      </p:sp>
      <p:sp>
        <p:nvSpPr>
          <p:cNvPr id="14" name="Rectangle 8"/>
          <p:cNvSpPr>
            <a:spLocks noChangeArrowheads="1"/>
          </p:cNvSpPr>
          <p:nvPr/>
        </p:nvSpPr>
        <p:spPr bwMode="auto">
          <a:xfrm>
            <a:off x="14441" y="687557"/>
            <a:ext cx="943927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Wingdings" panose="05000000000000000000" pitchFamily="2" charset="2"/>
              <a:buChar char="q"/>
            </a:pPr>
            <a:r>
              <a:rPr lang="en-US" b="1" dirty="0"/>
              <a:t>Pages</a:t>
            </a:r>
            <a:r>
              <a:rPr kumimoji="0" lang="en-US" sz="1000"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r>
            <a:br>
              <a:rPr kumimoji="0" lang="en-US" sz="1000"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br>
            <a:r>
              <a:rPr lang="en-US" dirty="0"/>
              <a:t>Bubble apps are </a:t>
            </a:r>
            <a:r>
              <a:rPr lang="en-US" dirty="0" smtClean="0"/>
              <a:t>built </a:t>
            </a:r>
            <a:r>
              <a:rPr lang="en-US" dirty="0"/>
              <a:t>on individual pages that act as screens for users. Pages can display static or dynamic content and are essential for structuring navigation within the application. Dynamic pages can change content based on user inputs or URL parameters</a:t>
            </a:r>
            <a:r>
              <a:rPr lang="en-US" dirty="0" smtClean="0"/>
              <a:t>.</a:t>
            </a:r>
            <a:r>
              <a:rPr lang="en-US" dirty="0">
                <a:hlinkClick r:id="rId5"/>
              </a:rPr>
              <a:t> </a:t>
            </a:r>
            <a:endParaRPr lang="en-US" dirty="0"/>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b="1" dirty="0"/>
              <a:t>Elements</a:t>
            </a:r>
            <a:br>
              <a:rPr lang="en-US" b="1" dirty="0"/>
            </a:br>
            <a:r>
              <a:rPr lang="en-US" dirty="0" err="1"/>
              <a:t>Elements</a:t>
            </a:r>
            <a:r>
              <a:rPr lang="en-US" dirty="0"/>
              <a:t> are the UI building blocks of a Bubble app—such as text, buttons, images, groups, input fields, and reusable components. These elements are assembled visually through the design editor and customized to create user interfaces. </a:t>
            </a:r>
          </a:p>
          <a:p>
            <a:pPr marL="285750" lvl="0" indent="-285750" eaLnBrk="0" fontAlgn="base" hangingPunct="0">
              <a:spcBef>
                <a:spcPct val="0"/>
              </a:spcBef>
              <a:spcAft>
                <a:spcPct val="0"/>
              </a:spcAft>
              <a:buFont typeface="Wingdings" panose="05000000000000000000" pitchFamily="2" charset="2"/>
              <a:buChar char="q"/>
            </a:pPr>
            <a:r>
              <a:rPr lang="en-US" b="1" dirty="0"/>
              <a:t>Data Types</a:t>
            </a:r>
            <a:br>
              <a:rPr lang="en-US" b="1" dirty="0"/>
            </a:br>
            <a:r>
              <a:rPr lang="en-US" dirty="0"/>
              <a:t>Data types define the structure of the app’s database. Each data type (e.g., User, Post, Product) contains fields that store information. They form the backbone of dynamic application content and logic</a:t>
            </a:r>
            <a:r>
              <a:rPr lang="en-US" dirty="0" smtClean="0"/>
              <a:t>.</a:t>
            </a:r>
            <a:endParaRPr lang="en-US" dirty="0"/>
          </a:p>
          <a:p>
            <a:pPr marL="285750" lvl="0" indent="-285750" eaLnBrk="0" fontAlgn="base" hangingPunct="0">
              <a:spcBef>
                <a:spcPct val="0"/>
              </a:spcBef>
              <a:spcAft>
                <a:spcPct val="0"/>
              </a:spcAft>
              <a:buFont typeface="Wingdings" panose="05000000000000000000" pitchFamily="2" charset="2"/>
              <a:buChar char="q"/>
            </a:pPr>
            <a:r>
              <a:rPr lang="en-US" b="1" dirty="0"/>
              <a:t>Workflows</a:t>
            </a:r>
            <a:br>
              <a:rPr lang="en-US" b="1" dirty="0"/>
            </a:br>
            <a:r>
              <a:rPr lang="en-US" dirty="0" err="1"/>
              <a:t>Workflows</a:t>
            </a:r>
            <a:r>
              <a:rPr lang="en-US" dirty="0"/>
              <a:t> determine how the application behaves. They define event‑driven logic—such as what happens when a user clicks a button, submits a form, or loads a page. Workflows power interactivity and automation throughout the app</a:t>
            </a:r>
            <a:r>
              <a:rPr lang="en-US" dirty="0" smtClean="0"/>
              <a:t>.</a:t>
            </a:r>
            <a:r>
              <a:rPr lang="en-US" dirty="0">
                <a:hlinkClick r:id="rId5"/>
              </a:rPr>
              <a:t> https://</a:t>
            </a:r>
            <a:r>
              <a:rPr lang="en-US" dirty="0" smtClean="0">
                <a:hlinkClick r:id="rId5"/>
              </a:rPr>
              <a:t>www.youtube.com/watch?v=XAoCmqtvzhA</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05696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a16="http://schemas.microsoft.com/office/drawing/2014/main" xmlns=""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a16="http://schemas.microsoft.com/office/drawing/2014/main" xmlns=""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a16="http://schemas.microsoft.com/office/drawing/2014/main" xmlns=""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3" name="Rectangle 2"/>
          <p:cNvSpPr/>
          <p:nvPr/>
        </p:nvSpPr>
        <p:spPr>
          <a:xfrm>
            <a:off x="0" y="676870"/>
            <a:ext cx="9344025" cy="4801314"/>
          </a:xfrm>
          <a:prstGeom prst="rect">
            <a:avLst/>
          </a:prstGeom>
        </p:spPr>
        <p:txBody>
          <a:bodyPr wrap="square">
            <a:spAutoFit/>
          </a:bodyPr>
          <a:lstStyle/>
          <a:p>
            <a:pPr marL="285750" indent="-285750">
              <a:buFont typeface="Wingdings" panose="05000000000000000000" pitchFamily="2" charset="2"/>
              <a:buChar char="q"/>
            </a:pPr>
            <a:r>
              <a:rPr lang="en-US" b="1" dirty="0" smtClean="0"/>
              <a:t>Creating </a:t>
            </a:r>
            <a:r>
              <a:rPr lang="en-US" b="1" dirty="0"/>
              <a:t>and Structuring </a:t>
            </a:r>
            <a:r>
              <a:rPr lang="en-US" b="1" dirty="0" smtClean="0"/>
              <a:t>Databases</a:t>
            </a:r>
            <a:endParaRPr lang="en-US" b="1" dirty="0"/>
          </a:p>
          <a:p>
            <a:r>
              <a:rPr lang="en-US" dirty="0" smtClean="0"/>
              <a:t>Bubble </a:t>
            </a:r>
            <a:r>
              <a:rPr lang="en-US" dirty="0"/>
              <a:t>allows you to create custom data types and fields to structure your app’s database. Proper database design is foundational for storing, retrieving, and managing dynamic content within the application. </a:t>
            </a:r>
            <a:r>
              <a:rPr lang="en-US" dirty="0" smtClean="0"/>
              <a:t>[ </a:t>
            </a:r>
            <a:r>
              <a:rPr lang="en-US" dirty="0" smtClean="0">
                <a:hlinkClick r:id="rId5"/>
              </a:rPr>
              <a:t>https</a:t>
            </a:r>
            <a:r>
              <a:rPr lang="en-US" dirty="0">
                <a:hlinkClick r:id="rId5"/>
              </a:rPr>
              <a:t>://</a:t>
            </a:r>
            <a:r>
              <a:rPr lang="en-US" dirty="0" smtClean="0">
                <a:hlinkClick r:id="rId5"/>
              </a:rPr>
              <a:t>www.youtube.com/watch?v=XAoCmqtvzhA</a:t>
            </a:r>
            <a:r>
              <a:rPr lang="en-US" dirty="0" smtClean="0"/>
              <a:t>  ]</a:t>
            </a: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b="1" dirty="0" smtClean="0"/>
              <a:t>Data </a:t>
            </a:r>
            <a:r>
              <a:rPr lang="en-US" b="1" dirty="0"/>
              <a:t>Relationships, Option Sets, and </a:t>
            </a:r>
            <a:r>
              <a:rPr lang="en-US" b="1" dirty="0" smtClean="0"/>
              <a:t>Privacy</a:t>
            </a:r>
          </a:p>
          <a:p>
            <a:r>
              <a:rPr lang="en-US" dirty="0" smtClean="0"/>
              <a:t> Bubble </a:t>
            </a:r>
            <a:r>
              <a:rPr lang="en-US" dirty="0"/>
              <a:t>supports relational data models, enabling you to link data types together (e.g., Users → Posts). Option sets provide fixed-value lists for cleaner database logic, and Bubble includes privacy rules that control which users can see or modify specific data. </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b="1" dirty="0" smtClean="0"/>
              <a:t>Working </a:t>
            </a:r>
            <a:r>
              <a:rPr lang="en-US" b="1" dirty="0"/>
              <a:t>with Database Triggers and Backend </a:t>
            </a:r>
            <a:r>
              <a:rPr lang="en-US" b="1" dirty="0" smtClean="0"/>
              <a:t>Workflows</a:t>
            </a:r>
          </a:p>
          <a:p>
            <a:r>
              <a:rPr lang="en-US" dirty="0" smtClean="0"/>
              <a:t>Bubble includes </a:t>
            </a:r>
            <a:r>
              <a:rPr lang="en-US" dirty="0"/>
              <a:t>backend workflows and database triggers that automate operations in the background—such as running scheduled tasks, detecting data changes, and automating system logic without user interaction. </a:t>
            </a:r>
            <a:r>
              <a:rPr lang="en-US" dirty="0" smtClean="0">
                <a:hlinkClick r:id="rId6"/>
              </a:rPr>
              <a:t>https</a:t>
            </a:r>
            <a:r>
              <a:rPr lang="en-US" dirty="0">
                <a:hlinkClick r:id="rId6"/>
              </a:rPr>
              <a:t>://</a:t>
            </a:r>
            <a:r>
              <a:rPr lang="en-US" dirty="0" smtClean="0">
                <a:hlinkClick r:id="rId6"/>
              </a:rPr>
              <a:t>www.youtube.com/playlist?list=PLd6fHsjyvH7z4Z8yCsp8Uu6MFqPI95KrW</a:t>
            </a:r>
            <a:endParaRPr lang="en-US" dirty="0"/>
          </a:p>
          <a:p>
            <a:endParaRPr lang="en-US" dirty="0"/>
          </a:p>
        </p:txBody>
      </p:sp>
      <p:sp>
        <p:nvSpPr>
          <p:cNvPr id="4" name="Rectangle 3"/>
          <p:cNvSpPr/>
          <p:nvPr/>
        </p:nvSpPr>
        <p:spPr>
          <a:xfrm>
            <a:off x="83527" y="123070"/>
            <a:ext cx="3515706" cy="369332"/>
          </a:xfrm>
          <a:prstGeom prst="rect">
            <a:avLst/>
          </a:prstGeom>
        </p:spPr>
        <p:txBody>
          <a:bodyPr wrap="none">
            <a:spAutoFit/>
          </a:bodyPr>
          <a:lstStyle/>
          <a:p>
            <a:r>
              <a:rPr lang="en-US" b="1" dirty="0" smtClean="0">
                <a:solidFill>
                  <a:schemeClr val="bg1"/>
                </a:solidFill>
              </a:rPr>
              <a:t>Database </a:t>
            </a:r>
            <a:r>
              <a:rPr lang="en-US" b="1" dirty="0">
                <a:solidFill>
                  <a:schemeClr val="bg1"/>
                </a:solidFill>
              </a:rPr>
              <a:t>Design &amp; Data Types</a:t>
            </a:r>
          </a:p>
        </p:txBody>
      </p:sp>
    </p:spTree>
    <p:extLst>
      <p:ext uri="{BB962C8B-B14F-4D97-AF65-F5344CB8AC3E}">
        <p14:creationId xmlns:p14="http://schemas.microsoft.com/office/powerpoint/2010/main" val="32949561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a16="http://schemas.microsoft.com/office/drawing/2014/main" xmlns=""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a16="http://schemas.microsoft.com/office/drawing/2014/main" xmlns=""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a16="http://schemas.microsoft.com/office/drawing/2014/main" xmlns=""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4" name="Rectangle 3"/>
          <p:cNvSpPr/>
          <p:nvPr/>
        </p:nvSpPr>
        <p:spPr>
          <a:xfrm>
            <a:off x="0" y="717532"/>
            <a:ext cx="9418933" cy="3693319"/>
          </a:xfrm>
          <a:prstGeom prst="rect">
            <a:avLst/>
          </a:prstGeom>
        </p:spPr>
        <p:txBody>
          <a:bodyPr wrap="square">
            <a:spAutoFit/>
          </a:bodyPr>
          <a:lstStyle/>
          <a:p>
            <a:r>
              <a:rPr lang="en-US" b="1" dirty="0" smtClean="0"/>
              <a:t>Responsive </a:t>
            </a:r>
            <a:r>
              <a:rPr lang="en-US" b="1" dirty="0"/>
              <a:t>design using the </a:t>
            </a:r>
            <a:r>
              <a:rPr lang="en-US" b="1" dirty="0" err="1"/>
              <a:t>flexbox</a:t>
            </a:r>
            <a:r>
              <a:rPr lang="en-US" b="1" dirty="0"/>
              <a:t> responsive </a:t>
            </a:r>
            <a:r>
              <a:rPr lang="en-US" b="1" dirty="0" smtClean="0"/>
              <a:t>engine</a:t>
            </a:r>
            <a:endParaRPr lang="en-US" b="1" dirty="0"/>
          </a:p>
          <a:p>
            <a:r>
              <a:rPr lang="en-US" dirty="0"/>
              <a:t>    Bubble’s updated responsive engine (based on </a:t>
            </a:r>
            <a:r>
              <a:rPr lang="en-US" dirty="0" err="1"/>
              <a:t>flexbox</a:t>
            </a:r>
            <a:r>
              <a:rPr lang="en-US" dirty="0"/>
              <a:t> principles) enables you to build layouts that adapt smoothly to different screen sizes. It allows for flexible alignment, spacing, and stacking behaviors, making it easier to create modern, mobile‑friendly interfaces. </a:t>
            </a:r>
            <a:endParaRPr lang="en-US" dirty="0" smtClean="0"/>
          </a:p>
          <a:p>
            <a:r>
              <a:rPr lang="en-US" dirty="0" smtClean="0">
                <a:hlinkClick r:id="rId5"/>
              </a:rPr>
              <a:t>https</a:t>
            </a:r>
            <a:r>
              <a:rPr lang="en-US" dirty="0">
                <a:hlinkClick r:id="rId5"/>
              </a:rPr>
              <a:t>://buildingwithbubble.com/complete-bubble-crash-course-beginners</a:t>
            </a:r>
            <a:r>
              <a:rPr lang="en-US" dirty="0" smtClean="0">
                <a:hlinkClick r:id="rId5"/>
              </a:rPr>
              <a:t>/</a:t>
            </a:r>
            <a:r>
              <a:rPr lang="en-US" dirty="0" smtClean="0"/>
              <a:t> </a:t>
            </a:r>
            <a:endParaRPr lang="en-US" dirty="0"/>
          </a:p>
          <a:p>
            <a:endParaRPr lang="en-US" dirty="0"/>
          </a:p>
          <a:p>
            <a:r>
              <a:rPr lang="en-US" b="1" dirty="0" smtClean="0"/>
              <a:t>Styles </a:t>
            </a:r>
            <a:r>
              <a:rPr lang="en-US" b="1" dirty="0"/>
              <a:t>and </a:t>
            </a:r>
            <a:r>
              <a:rPr lang="en-US" b="1" dirty="0" smtClean="0"/>
              <a:t>theming</a:t>
            </a:r>
            <a:endParaRPr lang="en-US" b="1" dirty="0"/>
          </a:p>
          <a:p>
            <a:r>
              <a:rPr lang="en-US" dirty="0"/>
              <a:t>    Bubble provides a centralized *Styles* system where you can define reusable visual formats for elements (e.g., text, buttons, inputs). This enables consistent theming across pages and speeds up UI development, while allowing global updates from a single place. </a:t>
            </a:r>
            <a:r>
              <a:rPr lang="en-US" dirty="0" smtClean="0">
                <a:hlinkClick r:id="rId6"/>
              </a:rPr>
              <a:t>https</a:t>
            </a:r>
            <a:r>
              <a:rPr lang="en-US" dirty="0">
                <a:hlinkClick r:id="rId6"/>
              </a:rPr>
              <a:t>://www.udemy.com/course/build-fully-functional-apps-without-coding-using-bubble</a:t>
            </a:r>
            <a:r>
              <a:rPr lang="en-US" dirty="0" smtClean="0">
                <a:hlinkClick r:id="rId6"/>
              </a:rPr>
              <a:t>/</a:t>
            </a:r>
            <a:r>
              <a:rPr lang="en-US" dirty="0" smtClean="0"/>
              <a:t> </a:t>
            </a:r>
            <a:endParaRPr lang="en-US" dirty="0"/>
          </a:p>
        </p:txBody>
      </p:sp>
      <p:sp>
        <p:nvSpPr>
          <p:cNvPr id="5" name="Rectangle 4"/>
          <p:cNvSpPr/>
          <p:nvPr/>
        </p:nvSpPr>
        <p:spPr>
          <a:xfrm>
            <a:off x="0" y="163730"/>
            <a:ext cx="2686954" cy="369332"/>
          </a:xfrm>
          <a:prstGeom prst="rect">
            <a:avLst/>
          </a:prstGeom>
        </p:spPr>
        <p:txBody>
          <a:bodyPr wrap="none">
            <a:spAutoFit/>
          </a:bodyPr>
          <a:lstStyle/>
          <a:p>
            <a:r>
              <a:rPr lang="en-US" b="1" dirty="0">
                <a:solidFill>
                  <a:schemeClr val="bg1"/>
                </a:solidFill>
              </a:rPr>
              <a:t>UI/UX Design in Bubble</a:t>
            </a:r>
          </a:p>
        </p:txBody>
      </p:sp>
    </p:spTree>
    <p:extLst>
      <p:ext uri="{BB962C8B-B14F-4D97-AF65-F5344CB8AC3E}">
        <p14:creationId xmlns:p14="http://schemas.microsoft.com/office/powerpoint/2010/main" val="6409911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a16="http://schemas.microsoft.com/office/drawing/2014/main" xmlns=""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a16="http://schemas.microsoft.com/office/drawing/2014/main" xmlns=""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a16="http://schemas.microsoft.com/office/drawing/2014/main" xmlns=""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3" name="Rectangle 2"/>
          <p:cNvSpPr/>
          <p:nvPr/>
        </p:nvSpPr>
        <p:spPr>
          <a:xfrm>
            <a:off x="123824" y="776556"/>
            <a:ext cx="9418933" cy="4801314"/>
          </a:xfrm>
          <a:prstGeom prst="rect">
            <a:avLst/>
          </a:prstGeom>
        </p:spPr>
        <p:txBody>
          <a:bodyPr wrap="square">
            <a:spAutoFit/>
          </a:bodyPr>
          <a:lstStyle/>
          <a:p>
            <a:r>
              <a:rPr lang="en-US" b="1" dirty="0" smtClean="0"/>
              <a:t>Dynamic pages</a:t>
            </a:r>
            <a:endParaRPr lang="en-US" b="1" dirty="0"/>
          </a:p>
          <a:p>
            <a:r>
              <a:rPr lang="en-US" dirty="0"/>
              <a:t>    Bubble allows you to create *dynamic pages* whose content changes based on user input or URL parameters—ideal for user profiles, product pages, or any data‑driven content. </a:t>
            </a:r>
            <a:r>
              <a:rPr lang="en-US" dirty="0" smtClean="0"/>
              <a:t>[ </a:t>
            </a:r>
            <a:r>
              <a:rPr lang="en-US" dirty="0" smtClean="0">
                <a:hlinkClick r:id="rId5"/>
              </a:rPr>
              <a:t>https</a:t>
            </a:r>
            <a:r>
              <a:rPr lang="en-US" dirty="0">
                <a:hlinkClick r:id="rId5"/>
              </a:rPr>
              <a:t>://</a:t>
            </a:r>
            <a:r>
              <a:rPr lang="en-US" dirty="0" smtClean="0">
                <a:hlinkClick r:id="rId5"/>
              </a:rPr>
              <a:t>www.youtube.com/watch?v=XAoCmqtvzhA</a:t>
            </a:r>
            <a:r>
              <a:rPr lang="en-US" dirty="0" smtClean="0"/>
              <a:t> ] </a:t>
            </a:r>
            <a:endParaRPr lang="en-US" dirty="0"/>
          </a:p>
          <a:p>
            <a:endParaRPr lang="en-US" dirty="0"/>
          </a:p>
          <a:p>
            <a:r>
              <a:rPr lang="en-US" b="1" dirty="0" smtClean="0"/>
              <a:t>Repeating groups</a:t>
            </a:r>
            <a:endParaRPr lang="en-US" b="1" dirty="0"/>
          </a:p>
          <a:p>
            <a:r>
              <a:rPr lang="en-US" dirty="0"/>
              <a:t>    Repeating groups enable you to display lists of items dynamically (e.g., posts, products, messages). They automatically pull data from the database and update as new items are added or changed. </a:t>
            </a:r>
            <a:endParaRPr lang="en-US" dirty="0" smtClean="0"/>
          </a:p>
          <a:p>
            <a:r>
              <a:rPr lang="en-US" dirty="0" smtClean="0">
                <a:hlinkClick r:id="rId5"/>
              </a:rPr>
              <a:t>https</a:t>
            </a:r>
            <a:r>
              <a:rPr lang="en-US" dirty="0">
                <a:hlinkClick r:id="rId5"/>
              </a:rPr>
              <a:t>://</a:t>
            </a:r>
            <a:r>
              <a:rPr lang="en-US" dirty="0" smtClean="0">
                <a:hlinkClick r:id="rId5"/>
              </a:rPr>
              <a:t>www.youtube.com/watch?v=XAoCmqtvzhA</a:t>
            </a:r>
            <a:r>
              <a:rPr lang="en-US" dirty="0" smtClean="0"/>
              <a:t> </a:t>
            </a:r>
            <a:endParaRPr lang="en-US" dirty="0"/>
          </a:p>
          <a:p>
            <a:endParaRPr lang="en-US" dirty="0"/>
          </a:p>
          <a:p>
            <a:r>
              <a:rPr lang="en-US" b="1" dirty="0" smtClean="0"/>
              <a:t>Filtering </a:t>
            </a:r>
            <a:r>
              <a:rPr lang="en-US" b="1" dirty="0"/>
              <a:t>data, search, and </a:t>
            </a:r>
            <a:r>
              <a:rPr lang="en-US" b="1" dirty="0" smtClean="0"/>
              <a:t>sorting</a:t>
            </a:r>
            <a:endParaRPr lang="en-US" b="1" dirty="0"/>
          </a:p>
          <a:p>
            <a:r>
              <a:rPr lang="en-US" dirty="0" smtClean="0"/>
              <a:t>Bubble’s </a:t>
            </a:r>
            <a:r>
              <a:rPr lang="en-US" dirty="0"/>
              <a:t>data tools allow you to filter, search, and sort database entries directly within repeating groups and dynamic content areas, helping users find relevant information efficiently. (Filtering and display functionality are part of Bubble’s dynamic content and repeating group features.) </a:t>
            </a:r>
            <a:endParaRPr lang="en-US" dirty="0" smtClean="0"/>
          </a:p>
          <a:p>
            <a:r>
              <a:rPr lang="en-US" dirty="0" smtClean="0">
                <a:hlinkClick r:id="rId5"/>
              </a:rPr>
              <a:t>https</a:t>
            </a:r>
            <a:r>
              <a:rPr lang="en-US" dirty="0">
                <a:hlinkClick r:id="rId5"/>
              </a:rPr>
              <a:t>://</a:t>
            </a:r>
            <a:r>
              <a:rPr lang="en-US" dirty="0" smtClean="0">
                <a:hlinkClick r:id="rId5"/>
              </a:rPr>
              <a:t>www.youtube.com/watch?v=XAoCmqtvzhA</a:t>
            </a:r>
            <a:r>
              <a:rPr lang="en-US" dirty="0"/>
              <a:t> </a:t>
            </a:r>
          </a:p>
        </p:txBody>
      </p:sp>
      <p:sp>
        <p:nvSpPr>
          <p:cNvPr id="4" name="Rectangle 3"/>
          <p:cNvSpPr/>
          <p:nvPr/>
        </p:nvSpPr>
        <p:spPr>
          <a:xfrm>
            <a:off x="0" y="123070"/>
            <a:ext cx="3685624" cy="369332"/>
          </a:xfrm>
          <a:prstGeom prst="rect">
            <a:avLst/>
          </a:prstGeom>
        </p:spPr>
        <p:txBody>
          <a:bodyPr wrap="none">
            <a:spAutoFit/>
          </a:bodyPr>
          <a:lstStyle/>
          <a:p>
            <a:r>
              <a:rPr lang="en-US" b="1" dirty="0">
                <a:solidFill>
                  <a:schemeClr val="bg1"/>
                </a:solidFill>
              </a:rPr>
              <a:t>Dynamic Content &amp; Data Display</a:t>
            </a:r>
          </a:p>
        </p:txBody>
      </p:sp>
    </p:spTree>
    <p:extLst>
      <p:ext uri="{BB962C8B-B14F-4D97-AF65-F5344CB8AC3E}">
        <p14:creationId xmlns:p14="http://schemas.microsoft.com/office/powerpoint/2010/main" val="34829551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그림 개체 틀 31">
            <a:extLst>
              <a:ext uri="{FF2B5EF4-FFF2-40B4-BE49-F238E27FC236}">
                <a16:creationId xmlns:a16="http://schemas.microsoft.com/office/drawing/2014/main" xmlns="" id="{7527222C-085B-803A-191F-A24EC642129B}"/>
              </a:ext>
            </a:extLst>
          </p:cNvPr>
          <p:cNvPicPr>
            <a:picLocks noGrp="1" noChangeAspect="1"/>
          </p:cNvPicPr>
          <p:nvPr>
            <p:ph type="pic" sz="quarter" idx="10"/>
          </p:nvPr>
        </p:nvPicPr>
        <p:blipFill>
          <a:blip r:embed="rId2"/>
          <a:srcRect l="27578" r="27578"/>
          <a:stretch>
            <a:fillRect/>
          </a:stretch>
        </p:blipFill>
        <p:spPr>
          <a:xfrm>
            <a:off x="9418934" y="0"/>
            <a:ext cx="2773065" cy="6858000"/>
          </a:xfrm>
        </p:spPr>
      </p:pic>
      <p:sp>
        <p:nvSpPr>
          <p:cNvPr id="42" name="TextBox 41">
            <a:extLst>
              <a:ext uri="{FF2B5EF4-FFF2-40B4-BE49-F238E27FC236}">
                <a16:creationId xmlns:a16="http://schemas.microsoft.com/office/drawing/2014/main" xmlns="" id="{518F2ECF-7459-11C4-A2FA-FAE065AC2C04}"/>
              </a:ext>
            </a:extLst>
          </p:cNvPr>
          <p:cNvSpPr txBox="1"/>
          <p:nvPr/>
        </p:nvSpPr>
        <p:spPr>
          <a:xfrm>
            <a:off x="321353" y="184625"/>
            <a:ext cx="5322363" cy="307777"/>
          </a:xfrm>
          <a:prstGeom prst="rect">
            <a:avLst/>
          </a:prstGeom>
          <a:noFill/>
        </p:spPr>
        <p:txBody>
          <a:bodyPr wrap="square" rtlCol="0">
            <a:spAutoFit/>
          </a:bodyPr>
          <a:lstStyle>
            <a:defPPr>
              <a:defRPr lang="x-none"/>
            </a:defPPr>
            <a:lvl1pPr>
              <a:defRPr sz="1400">
                <a:solidFill>
                  <a:schemeClr val="bg1">
                    <a:lumMod val="50000"/>
                  </a:schemeClr>
                </a:solidFill>
                <a:latin typeface="Pretendard SemiBold" panose="02000703000000020004" pitchFamily="50" charset="-127"/>
                <a:ea typeface="Pretendard SemiBold" panose="02000703000000020004" pitchFamily="50" charset="-127"/>
                <a:cs typeface="Pretendard SemiBold" panose="02000703000000020004" pitchFamily="50" charset="-127"/>
              </a:defRPr>
            </a:lvl1pPr>
          </a:lstStyle>
          <a:p>
            <a:r>
              <a:rPr lang="en-US" altLang="ko-KR" dirty="0">
                <a:latin typeface="+mj-lt"/>
              </a:rPr>
              <a:t>Finance Corporation</a:t>
            </a:r>
            <a:endParaRPr lang="ko-KR" altLang="en-US" dirty="0">
              <a:latin typeface="+mj-lt"/>
            </a:endParaRPr>
          </a:p>
        </p:txBody>
      </p:sp>
      <p:sp>
        <p:nvSpPr>
          <p:cNvPr id="18" name="직사각형 17">
            <a:extLst>
              <a:ext uri="{FF2B5EF4-FFF2-40B4-BE49-F238E27FC236}">
                <a16:creationId xmlns:a16="http://schemas.microsoft.com/office/drawing/2014/main" xmlns="" id="{5D77C48C-AA1C-5C67-7E18-E1B68A24D859}"/>
              </a:ext>
            </a:extLst>
          </p:cNvPr>
          <p:cNvSpPr/>
          <p:nvPr/>
        </p:nvSpPr>
        <p:spPr>
          <a:xfrm>
            <a:off x="0" y="6379059"/>
            <a:ext cx="12191999" cy="5031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atin typeface="Pretendard" panose="02000503000000020004" pitchFamily="2" charset="-127"/>
              <a:ea typeface="Pretendard" panose="02000503000000020004" pitchFamily="2" charset="-127"/>
              <a:cs typeface="Pretendard" panose="02000503000000020004" pitchFamily="2" charset="-127"/>
            </a:endParaRPr>
          </a:p>
        </p:txBody>
      </p:sp>
      <p:pic>
        <p:nvPicPr>
          <p:cNvPr id="2" name="Picture 1"/>
          <p:cNvPicPr>
            <a:picLocks noChangeAspect="1"/>
          </p:cNvPicPr>
          <p:nvPr/>
        </p:nvPicPr>
        <p:blipFill>
          <a:blip r:embed="rId3"/>
          <a:stretch>
            <a:fillRect/>
          </a:stretch>
        </p:blipFill>
        <p:spPr>
          <a:xfrm>
            <a:off x="-1058" y="155"/>
            <a:ext cx="12193057" cy="676715"/>
          </a:xfrm>
          <a:prstGeom prst="rect">
            <a:avLst/>
          </a:prstGeom>
        </p:spPr>
      </p:pic>
      <p:pic>
        <p:nvPicPr>
          <p:cNvPr id="19" name="Picture 18"/>
          <p:cNvPicPr>
            <a:picLocks noChangeAspect="1"/>
          </p:cNvPicPr>
          <p:nvPr/>
        </p:nvPicPr>
        <p:blipFill>
          <a:blip r:embed="rId4"/>
          <a:stretch>
            <a:fillRect/>
          </a:stretch>
        </p:blipFill>
        <p:spPr>
          <a:xfrm>
            <a:off x="9882900" y="-10687"/>
            <a:ext cx="2309100" cy="698400"/>
          </a:xfrm>
          <a:prstGeom prst="rect">
            <a:avLst/>
          </a:prstGeom>
        </p:spPr>
      </p:pic>
      <p:sp>
        <p:nvSpPr>
          <p:cNvPr id="3" name="Rectangle 2"/>
          <p:cNvSpPr/>
          <p:nvPr/>
        </p:nvSpPr>
        <p:spPr>
          <a:xfrm>
            <a:off x="0" y="676870"/>
            <a:ext cx="9741521" cy="5078313"/>
          </a:xfrm>
          <a:prstGeom prst="rect">
            <a:avLst/>
          </a:prstGeom>
        </p:spPr>
        <p:txBody>
          <a:bodyPr wrap="square">
            <a:spAutoFit/>
          </a:bodyPr>
          <a:lstStyle/>
          <a:p>
            <a:pPr marL="285750" indent="-285750">
              <a:buFont typeface="Wingdings" panose="05000000000000000000" pitchFamily="2" charset="2"/>
              <a:buChar char="q"/>
            </a:pPr>
            <a:r>
              <a:rPr lang="en-US" b="1" dirty="0" smtClean="0"/>
              <a:t>Connecting </a:t>
            </a:r>
            <a:r>
              <a:rPr lang="en-US" b="1" dirty="0"/>
              <a:t>external </a:t>
            </a:r>
            <a:r>
              <a:rPr lang="en-US" b="1" dirty="0" smtClean="0"/>
              <a:t>APIs  </a:t>
            </a:r>
            <a:endParaRPr lang="en-US" b="1" dirty="0"/>
          </a:p>
          <a:p>
            <a:r>
              <a:rPr lang="en-US" dirty="0" smtClean="0"/>
              <a:t>Bubble </a:t>
            </a:r>
            <a:r>
              <a:rPr lang="en-US" dirty="0"/>
              <a:t>enables integration with thousands of external services and APIs, allowing apps to connect to automation platforms, external databases, and </a:t>
            </a:r>
            <a:r>
              <a:rPr lang="en-US" dirty="0" err="1"/>
              <a:t>SaaS</a:t>
            </a:r>
            <a:r>
              <a:rPr lang="en-US" dirty="0"/>
              <a:t> tools. This is accomplished through Bubble’s API connector and plugin ecosystem. </a:t>
            </a:r>
            <a:endParaRPr lang="en-US" dirty="0" smtClean="0"/>
          </a:p>
          <a:p>
            <a:endParaRPr lang="en-US" dirty="0"/>
          </a:p>
          <a:p>
            <a:pPr marL="285750" indent="-285750">
              <a:buFont typeface="Wingdings" panose="05000000000000000000" pitchFamily="2" charset="2"/>
              <a:buChar char="q"/>
            </a:pPr>
            <a:r>
              <a:rPr lang="en-US" b="1" dirty="0" smtClean="0"/>
              <a:t>Using </a:t>
            </a:r>
            <a:r>
              <a:rPr lang="en-US" b="1" dirty="0"/>
              <a:t>plugins for automation, email, file </a:t>
            </a:r>
            <a:r>
              <a:rPr lang="en-US" b="1" dirty="0" smtClean="0"/>
              <a:t>handling</a:t>
            </a:r>
            <a:endParaRPr lang="en-US" b="1" dirty="0"/>
          </a:p>
          <a:p>
            <a:r>
              <a:rPr lang="en-US" dirty="0" smtClean="0"/>
              <a:t>Plugins </a:t>
            </a:r>
            <a:r>
              <a:rPr lang="en-US" dirty="0"/>
              <a:t>greatly expand app capabilities—supporting automated workflows, secure file processing, and advanced user interactions. Bubble’s plugin library includes tools for connecting workflows, sending emails, managing uploads, and other automation tasks. </a:t>
            </a:r>
            <a:endParaRPr lang="en-US" dirty="0" smtClean="0"/>
          </a:p>
          <a:p>
            <a:endParaRPr lang="en-US" dirty="0"/>
          </a:p>
          <a:p>
            <a:pPr marL="285750" indent="-285750">
              <a:buFont typeface="Wingdings" panose="05000000000000000000" pitchFamily="2" charset="2"/>
              <a:buChar char="q"/>
            </a:pPr>
            <a:r>
              <a:rPr lang="en-US" b="1" dirty="0" smtClean="0"/>
              <a:t>Postmark </a:t>
            </a:r>
            <a:r>
              <a:rPr lang="en-US" b="1" dirty="0"/>
              <a:t>(Transactional </a:t>
            </a:r>
            <a:r>
              <a:rPr lang="en-US" b="1" dirty="0" smtClean="0"/>
              <a:t>Email</a:t>
            </a:r>
            <a:endParaRPr lang="en-US" b="1" dirty="0"/>
          </a:p>
          <a:p>
            <a:r>
              <a:rPr lang="en-US" dirty="0" smtClean="0"/>
              <a:t>The </a:t>
            </a:r>
            <a:r>
              <a:rPr lang="en-US" dirty="0"/>
              <a:t>Postmark plugin allows apps to send reliable transactional emails, notifications, and system messages directly through workflows—useful for sign‑ups, password resets, and alerts. </a:t>
            </a:r>
            <a:endParaRPr lang="en-US" dirty="0" smtClean="0"/>
          </a:p>
          <a:p>
            <a:pPr marL="285750" indent="-285750">
              <a:buFont typeface="Wingdings" panose="05000000000000000000" pitchFamily="2" charset="2"/>
              <a:buChar char="q"/>
            </a:pPr>
            <a:r>
              <a:rPr lang="en-US" b="1" dirty="0" err="1" smtClean="0"/>
              <a:t>LogSnag</a:t>
            </a:r>
            <a:r>
              <a:rPr lang="en-US" b="1" dirty="0" smtClean="0"/>
              <a:t> </a:t>
            </a:r>
            <a:r>
              <a:rPr lang="en-US" b="1" dirty="0"/>
              <a:t>(Event Logging &amp; </a:t>
            </a:r>
            <a:r>
              <a:rPr lang="en-US" b="1" dirty="0" smtClean="0"/>
              <a:t>Notifications)</a:t>
            </a:r>
          </a:p>
          <a:p>
            <a:r>
              <a:rPr lang="en-US" dirty="0" smtClean="0"/>
              <a:t>Plugins </a:t>
            </a:r>
            <a:r>
              <a:rPr lang="en-US" dirty="0"/>
              <a:t>like </a:t>
            </a:r>
            <a:r>
              <a:rPr lang="en-US" dirty="0" err="1"/>
              <a:t>LogSnag</a:t>
            </a:r>
            <a:r>
              <a:rPr lang="en-US" dirty="0"/>
              <a:t> help track real‑time user actions, log events, and send notifications—useful for monitoring user activity and maintaining analytics within Bubble apps. </a:t>
            </a:r>
            <a:r>
              <a:rPr lang="en-US" dirty="0" smtClean="0">
                <a:hlinkClick r:id="rId5"/>
              </a:rPr>
              <a:t>https</a:t>
            </a:r>
            <a:r>
              <a:rPr lang="en-US" dirty="0">
                <a:hlinkClick r:id="rId5"/>
              </a:rPr>
              <a:t>://</a:t>
            </a:r>
            <a:r>
              <a:rPr lang="en-US" dirty="0" smtClean="0">
                <a:hlinkClick r:id="rId5"/>
              </a:rPr>
              <a:t>www.youtube.com/playlist?list=PLd6fHsjyvH7z4Z8yCsp8Uu6MFqPI95KrW</a:t>
            </a:r>
            <a:r>
              <a:rPr lang="en-US" dirty="0" smtClean="0"/>
              <a:t> </a:t>
            </a:r>
            <a:endParaRPr lang="en-US" dirty="0"/>
          </a:p>
        </p:txBody>
      </p:sp>
      <p:sp>
        <p:nvSpPr>
          <p:cNvPr id="4" name="Rectangle 3"/>
          <p:cNvSpPr/>
          <p:nvPr/>
        </p:nvSpPr>
        <p:spPr>
          <a:xfrm>
            <a:off x="68920" y="123070"/>
            <a:ext cx="2254143" cy="369332"/>
          </a:xfrm>
          <a:prstGeom prst="rect">
            <a:avLst/>
          </a:prstGeom>
        </p:spPr>
        <p:txBody>
          <a:bodyPr wrap="none">
            <a:spAutoFit/>
          </a:bodyPr>
          <a:lstStyle/>
          <a:p>
            <a:r>
              <a:rPr lang="en-US" b="1" dirty="0">
                <a:solidFill>
                  <a:schemeClr val="bg1"/>
                </a:solidFill>
              </a:rPr>
              <a:t>Integrations &amp; APIs</a:t>
            </a:r>
          </a:p>
        </p:txBody>
      </p:sp>
    </p:spTree>
    <p:extLst>
      <p:ext uri="{BB962C8B-B14F-4D97-AF65-F5344CB8AC3E}">
        <p14:creationId xmlns:p14="http://schemas.microsoft.com/office/powerpoint/2010/main" val="913408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a:extLst>
              <a:ext uri="{FF2B5EF4-FFF2-40B4-BE49-F238E27FC236}">
                <a16:creationId xmlns:a16="http://schemas.microsoft.com/office/drawing/2014/main" xmlns="" id="{ED104E1C-809D-AED1-2C09-FE26A9DA2E14}"/>
              </a:ext>
            </a:extLst>
          </p:cNvPr>
          <p:cNvPicPr>
            <a:picLocks noGrp="1" noChangeAspect="1"/>
          </p:cNvPicPr>
          <p:nvPr>
            <p:ph type="pic" sz="quarter" idx="10"/>
          </p:nvPr>
        </p:nvPicPr>
        <p:blipFill>
          <a:blip r:embed="rId2"/>
          <a:srcRect t="7797" b="7797"/>
          <a:stretch>
            <a:fillRect/>
          </a:stretch>
        </p:blipFill>
        <p:spPr>
          <a:prstGeom prst="rect">
            <a:avLst/>
          </a:prstGeom>
        </p:spPr>
      </p:pic>
      <p:sp>
        <p:nvSpPr>
          <p:cNvPr id="6" name="직사각형 5">
            <a:extLst>
              <a:ext uri="{FF2B5EF4-FFF2-40B4-BE49-F238E27FC236}">
                <a16:creationId xmlns:a16="http://schemas.microsoft.com/office/drawing/2014/main" xmlns="" id="{30F33A6D-18D3-85D7-2420-C240740B061B}"/>
              </a:ext>
            </a:extLst>
          </p:cNvPr>
          <p:cNvSpPr/>
          <p:nvPr/>
        </p:nvSpPr>
        <p:spPr>
          <a:xfrm rot="5400000">
            <a:off x="1285240" y="-1285241"/>
            <a:ext cx="6858002" cy="9428482"/>
          </a:xfrm>
          <a:prstGeom prst="rect">
            <a:avLst/>
          </a:prstGeom>
          <a:gradFill flip="none" rotWithShape="1">
            <a:gsLst>
              <a:gs pos="0">
                <a:schemeClr val="accent2">
                  <a:alpha val="0"/>
                </a:schemeClr>
              </a:gs>
              <a:gs pos="51000">
                <a:schemeClr val="accent1">
                  <a:alpha val="49538"/>
                </a:schemeClr>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x-none" altLang="en-US">
              <a:latin typeface="Pretendard" panose="02000503000000020004" pitchFamily="2" charset="-127"/>
              <a:ea typeface="Pretendard" panose="02000503000000020004" pitchFamily="2" charset="-127"/>
              <a:cs typeface="Pretendard" panose="02000503000000020004" pitchFamily="2" charset="-127"/>
            </a:endParaRPr>
          </a:p>
        </p:txBody>
      </p:sp>
      <p:sp>
        <p:nvSpPr>
          <p:cNvPr id="5" name="TextBox 4">
            <a:extLst>
              <a:ext uri="{FF2B5EF4-FFF2-40B4-BE49-F238E27FC236}">
                <a16:creationId xmlns:a16="http://schemas.microsoft.com/office/drawing/2014/main" xmlns="" id="{971DE89B-937F-B96D-029A-55527B9A73E2}"/>
              </a:ext>
            </a:extLst>
          </p:cNvPr>
          <p:cNvSpPr txBox="1"/>
          <p:nvPr/>
        </p:nvSpPr>
        <p:spPr>
          <a:xfrm>
            <a:off x="646925" y="1233128"/>
            <a:ext cx="11511280" cy="923330"/>
          </a:xfrm>
          <a:prstGeom prst="rect">
            <a:avLst/>
          </a:prstGeom>
          <a:noFill/>
        </p:spPr>
        <p:txBody>
          <a:bodyPr wrap="square">
            <a:spAutoFit/>
          </a:bodyPr>
          <a:lstStyle/>
          <a:p>
            <a:pPr>
              <a:spcBef>
                <a:spcPts val="1000"/>
              </a:spcBef>
            </a:pPr>
            <a:r>
              <a:rPr lang="en-US" altLang="x-none" sz="5400" dirty="0" smtClean="0">
                <a:solidFill>
                  <a:schemeClr val="bg1"/>
                </a:solidFill>
                <a:latin typeface="+mj-lt"/>
                <a:ea typeface="Pretendard SemiBold" panose="02000703000000020004" pitchFamily="50" charset="-127"/>
                <a:cs typeface="Pretendard SemiBold" panose="02000703000000020004" pitchFamily="50" charset="-127"/>
              </a:rPr>
              <a:t>Thanks for your time</a:t>
            </a:r>
            <a:endParaRPr lang="en-US" altLang="x-none" sz="5400" dirty="0">
              <a:solidFill>
                <a:schemeClr val="bg1"/>
              </a:solidFill>
              <a:latin typeface="+mj-lt"/>
              <a:ea typeface="Pretendard SemiBold" panose="02000703000000020004" pitchFamily="50" charset="-127"/>
              <a:cs typeface="Pretendard SemiBold" panose="02000703000000020004" pitchFamily="50" charset="-127"/>
            </a:endParaRPr>
          </a:p>
        </p:txBody>
      </p:sp>
      <p:sp>
        <p:nvSpPr>
          <p:cNvPr id="18" name="TextBox 17">
            <a:extLst>
              <a:ext uri="{FF2B5EF4-FFF2-40B4-BE49-F238E27FC236}">
                <a16:creationId xmlns:a16="http://schemas.microsoft.com/office/drawing/2014/main" xmlns="" id="{7F501636-5AB5-AFFD-0C64-151AA05FD14F}"/>
              </a:ext>
            </a:extLst>
          </p:cNvPr>
          <p:cNvSpPr txBox="1"/>
          <p:nvPr/>
        </p:nvSpPr>
        <p:spPr>
          <a:xfrm>
            <a:off x="0" y="5277654"/>
            <a:ext cx="6365197" cy="523220"/>
          </a:xfrm>
          <a:prstGeom prst="rect">
            <a:avLst/>
          </a:prstGeom>
          <a:noFill/>
        </p:spPr>
        <p:txBody>
          <a:bodyPr wrap="square" rtlCol="0">
            <a:spAutoFit/>
          </a:bodyPr>
          <a:lstStyle/>
          <a:p>
            <a:r>
              <a:rPr lang="en-US" altLang="ko-KR" sz="1400" b="1" dirty="0" smtClean="0">
                <a:solidFill>
                  <a:schemeClr val="bg1"/>
                </a:solidFill>
                <a:ea typeface="Pretendard" panose="02000503000000020004" pitchFamily="2" charset="-127"/>
                <a:cs typeface="Pretendard" panose="02000503000000020004" pitchFamily="2" charset="-127"/>
              </a:rPr>
              <a:t>Bubble.io    - </a:t>
            </a:r>
            <a:r>
              <a:rPr lang="en-US" altLang="ko-KR" sz="1400" dirty="0">
                <a:solidFill>
                  <a:schemeClr val="bg1"/>
                </a:solidFill>
              </a:rPr>
              <a:t>No-Code  Web Site, CMS , </a:t>
            </a:r>
            <a:r>
              <a:rPr lang="en-US" altLang="ko-KR" sz="1400" dirty="0" smtClean="0">
                <a:solidFill>
                  <a:schemeClr val="bg1"/>
                </a:solidFill>
              </a:rPr>
              <a:t>App , Business solution – Platform</a:t>
            </a:r>
            <a:endParaRPr lang="ko-KR" altLang="en-US" sz="1400" dirty="0">
              <a:solidFill>
                <a:schemeClr val="bg1"/>
              </a:solidFill>
            </a:endParaRPr>
          </a:p>
          <a:p>
            <a:endParaRPr lang="ko-KR" altLang="en-US" sz="1400" b="1" dirty="0">
              <a:solidFill>
                <a:schemeClr val="bg1"/>
              </a:solidFill>
              <a:ea typeface="Pretendard" panose="02000503000000020004" pitchFamily="2" charset="-127"/>
              <a:cs typeface="Pretendard" panose="02000503000000020004" pitchFamily="2" charset="-127"/>
            </a:endParaRPr>
          </a:p>
        </p:txBody>
      </p:sp>
      <p:pic>
        <p:nvPicPr>
          <p:cNvPr id="19" name="Picture 18"/>
          <p:cNvPicPr>
            <a:picLocks noChangeAspect="1"/>
          </p:cNvPicPr>
          <p:nvPr/>
        </p:nvPicPr>
        <p:blipFill>
          <a:blip r:embed="rId3"/>
          <a:stretch>
            <a:fillRect/>
          </a:stretch>
        </p:blipFill>
        <p:spPr>
          <a:xfrm>
            <a:off x="265925" y="5810401"/>
            <a:ext cx="2309100" cy="698400"/>
          </a:xfrm>
          <a:prstGeom prst="rect">
            <a:avLst/>
          </a:prstGeom>
        </p:spPr>
      </p:pic>
    </p:spTree>
    <p:extLst>
      <p:ext uri="{BB962C8B-B14F-4D97-AF65-F5344CB8AC3E}">
        <p14:creationId xmlns:p14="http://schemas.microsoft.com/office/powerpoint/2010/main" val="41403441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2013 - 2022">
  <a:themeElements>
    <a:clrScheme name="사용자 지정 30">
      <a:dk1>
        <a:srgbClr val="000000"/>
      </a:dk1>
      <a:lt1>
        <a:srgbClr val="FFFFFF"/>
      </a:lt1>
      <a:dk2>
        <a:srgbClr val="002B5C"/>
      </a:dk2>
      <a:lt2>
        <a:srgbClr val="CEF5E6"/>
      </a:lt2>
      <a:accent1>
        <a:srgbClr val="002B5C"/>
      </a:accent1>
      <a:accent2>
        <a:srgbClr val="005CC4"/>
      </a:accent2>
      <a:accent3>
        <a:srgbClr val="4882F6"/>
      </a:accent3>
      <a:accent4>
        <a:srgbClr val="BFBFBF"/>
      </a:accent4>
      <a:accent5>
        <a:srgbClr val="7F8FA9"/>
      </a:accent5>
      <a:accent6>
        <a:srgbClr val="003E85"/>
      </a:accent6>
      <a:hlink>
        <a:srgbClr val="62999C"/>
      </a:hlink>
      <a:folHlink>
        <a:srgbClr val="3A5B5D"/>
      </a:folHlink>
    </a:clrScheme>
    <a:fontScheme name="사용자 지정 166">
      <a:majorFont>
        <a:latin typeface="Pretendard SemiBold"/>
        <a:ea typeface="맑은 고딕"/>
        <a:cs typeface=""/>
      </a:majorFont>
      <a:minorFont>
        <a:latin typeface="Pretendard"/>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테마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2183</TotalTime>
  <Words>1332</Words>
  <Application>Microsoft Office PowerPoint</Application>
  <PresentationFormat>Widescreen</PresentationFormat>
  <Paragraphs>99</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Calibri</vt:lpstr>
      <vt:lpstr>Segoe UI</vt:lpstr>
      <vt:lpstr>Wingdings</vt:lpstr>
      <vt:lpstr>Arial</vt:lpstr>
      <vt:lpstr>Malgun Gothic</vt:lpstr>
      <vt:lpstr>Pretendard</vt:lpstr>
      <vt:lpstr>Pretendard SemiBold</vt:lpstr>
      <vt:lpstr>Office 테마 2013 - 2022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Slide Members</Manager>
  <Company>YESFORM Co.,Ltd.</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Members</dc:title>
  <dc:subject>Powerpoint Templates, Diagram, Chart, Google slides, Keynote</dc:subject>
  <dc:creator>Slide Members by CM.LIM</dc:creator>
  <cp:keywords>SlideMembers, ppt, PPT Templates, Presentation, Diagram, Chart, Yesform, Google slides, Keynote, Free Slides</cp:keywords>
  <dc:description>The copyright of this document is at Slide Members. Unauthorized copying may result in legal sanctions.</dc:description>
  <cp:lastModifiedBy>HP</cp:lastModifiedBy>
  <cp:revision>18</cp:revision>
  <dcterms:created xsi:type="dcterms:W3CDTF">2023-01-11T03:09:10Z</dcterms:created>
  <dcterms:modified xsi:type="dcterms:W3CDTF">2026-02-22T17:52:11Z</dcterms:modified>
  <cp:category>www.slidemembers.com</cp:category>
</cp:coreProperties>
</file>